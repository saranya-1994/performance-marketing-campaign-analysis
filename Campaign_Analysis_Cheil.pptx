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notesSlides/notesSlide9.xml" ContentType="application/vnd.openxmlformats-officedocument.presentationml.notesSlide+xml"/>
  <Override PartName="/ppt/charts/chart8.xml" ContentType="application/vnd.openxmlformats-officedocument.drawingml.chart+xml"/>
  <Override PartName="/ppt/notesSlides/notesSlide10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78" r:id="rId5"/>
    <p:sldId id="259" r:id="rId6"/>
    <p:sldId id="268" r:id="rId7"/>
    <p:sldId id="265" r:id="rId8"/>
    <p:sldId id="260" r:id="rId9"/>
    <p:sldId id="269" r:id="rId10"/>
    <p:sldId id="261" r:id="rId11"/>
    <p:sldId id="270" r:id="rId12"/>
    <p:sldId id="279" r:id="rId13"/>
    <p:sldId id="262" r:id="rId14"/>
    <p:sldId id="263" r:id="rId15"/>
    <p:sldId id="264" r:id="rId16"/>
    <p:sldId id="272" r:id="rId17"/>
    <p:sldId id="271" r:id="rId18"/>
    <p:sldId id="266" r:id="rId19"/>
    <p:sldId id="267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28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ranya%20cj\Downloads\Market%20Campaign_Analysis_Working_File%202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ranya%20cj\Downloads\Market%20Campaign_Analysis_Working_File%202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ranya%20cj\Downloads\Market%20Campaign_Analysis_Working_File%202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Engagements</c:v>
                </c:pt>
              </c:strCache>
            </c:strRef>
          </c:tx>
          <c:spPr>
            <a:solidFill>
              <a:srgbClr val="2E6DB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107491</c:v>
                </c:pt>
                <c:pt idx="1">
                  <c:v>209361</c:v>
                </c:pt>
                <c:pt idx="2">
                  <c:v>585696</c:v>
                </c:pt>
                <c:pt idx="3">
                  <c:v>450</c:v>
                </c:pt>
                <c:pt idx="4">
                  <c:v>165582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BE-4604-8115-FBFAFFB5163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Avg Engagement</a:t>
            </a:r>
            <a:r>
              <a:rPr lang="en-US" baseline="0"/>
              <a:t> rate</a:t>
            </a:r>
            <a:r>
              <a:rPr lang="en-US"/>
              <a:t> by</a:t>
            </a:r>
            <a:r>
              <a:rPr lang="en-US" baseline="0"/>
              <a:t> month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'Monthly Summary'!$B$29</c:f>
              <c:strCache>
                <c:ptCount val="1"/>
                <c:pt idx="0">
                  <c:v>Avg Engagement Rate (Eng/Reach)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errBars>
            <c:errDir val="y"/>
            <c:errBarType val="both"/>
            <c:errValType val="stdErr"/>
            <c:noEndCap val="0"/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'Monthly Summary'!$A$30:$A$35</c:f>
              <c:strCache>
                <c:ptCount val="6"/>
                <c:pt idx="0">
                  <c:v>July</c:v>
                </c:pt>
                <c:pt idx="1">
                  <c:v>August</c:v>
                </c:pt>
                <c:pt idx="2">
                  <c:v>September</c:v>
                </c:pt>
                <c:pt idx="3">
                  <c:v>October</c:v>
                </c:pt>
                <c:pt idx="4">
                  <c:v>November</c:v>
                </c:pt>
                <c:pt idx="5">
                  <c:v>Overall Avg</c:v>
                </c:pt>
              </c:strCache>
            </c:strRef>
          </c:cat>
          <c:val>
            <c:numRef>
              <c:f>'Monthly Summary'!$B$30:$B$35</c:f>
              <c:numCache>
                <c:formatCode>0.00%</c:formatCode>
                <c:ptCount val="6"/>
                <c:pt idx="0">
                  <c:v>0.13700000000000001</c:v>
                </c:pt>
                <c:pt idx="1">
                  <c:v>8.8999999999999996E-2</c:v>
                </c:pt>
                <c:pt idx="2">
                  <c:v>0.29499999999999998</c:v>
                </c:pt>
                <c:pt idx="3">
                  <c:v>3.1E-2</c:v>
                </c:pt>
                <c:pt idx="4">
                  <c:v>0.155</c:v>
                </c:pt>
                <c:pt idx="5">
                  <c:v>0.17299999999999999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B0B-4E58-BBAA-80C1393500D3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594658384"/>
        <c:axId val="594660048"/>
      </c:lineChart>
      <c:catAx>
        <c:axId val="5946583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4660048"/>
        <c:crosses val="autoZero"/>
        <c:auto val="1"/>
        <c:lblAlgn val="ctr"/>
        <c:lblOffset val="100"/>
        <c:noMultiLvlLbl val="0"/>
      </c:catAx>
      <c:valAx>
        <c:axId val="5946600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46583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Eng/Post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Thailand</c:v>
                </c:pt>
                <c:pt idx="1">
                  <c:v>International</c:v>
                </c:pt>
                <c:pt idx="2">
                  <c:v>Vietnam</c:v>
                </c:pt>
                <c:pt idx="3">
                  <c:v>Taiwan</c:v>
                </c:pt>
                <c:pt idx="4">
                  <c:v>España</c:v>
                </c:pt>
                <c:pt idx="5">
                  <c:v>Hongkong</c:v>
                </c:pt>
                <c:pt idx="6">
                  <c:v>Belgium</c:v>
                </c:pt>
                <c:pt idx="7">
                  <c:v>Magyarország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8501</c:v>
                </c:pt>
                <c:pt idx="1">
                  <c:v>7598</c:v>
                </c:pt>
                <c:pt idx="2">
                  <c:v>5340</c:v>
                </c:pt>
                <c:pt idx="3">
                  <c:v>1941</c:v>
                </c:pt>
                <c:pt idx="4">
                  <c:v>970</c:v>
                </c:pt>
                <c:pt idx="5">
                  <c:v>960</c:v>
                </c:pt>
                <c:pt idx="6">
                  <c:v>265</c:v>
                </c:pt>
                <c:pt idx="7">
                  <c:v>257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5A-4F3F-A020-BE742C44F94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Count</a:t>
            </a:r>
            <a:r>
              <a:rPr lang="en-US" baseline="0"/>
              <a:t> of post by channel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'Channel Analysis'!$B$3</c:f>
              <c:strCache>
                <c:ptCount val="1"/>
                <c:pt idx="0">
                  <c:v>Posts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84C-4A6B-9377-BE0E17B0203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84C-4A6B-9377-BE0E17B0203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'Channel Analysis'!$A$4:$A$5</c:f>
              <c:strCache>
                <c:ptCount val="2"/>
                <c:pt idx="0">
                  <c:v>Facebook</c:v>
                </c:pt>
                <c:pt idx="1">
                  <c:v>Instagram</c:v>
                </c:pt>
              </c:strCache>
            </c:strRef>
          </c:cat>
          <c:val>
            <c:numRef>
              <c:f>'Channel Analysis'!$B$4:$B$5</c:f>
              <c:numCache>
                <c:formatCode>#,##0</c:formatCode>
                <c:ptCount val="2"/>
                <c:pt idx="0">
                  <c:v>335</c:v>
                </c:pt>
                <c:pt idx="1">
                  <c:v>314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84C-4A6B-9377-BE0E17B0203A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Eng/Post</c:v>
                </c:pt>
              </c:strCache>
            </c:strRef>
          </c:tx>
          <c:spPr>
            <a:solidFill>
              <a:srgbClr val="E8792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Campaign</c:v>
                </c:pt>
                <c:pt idx="1">
                  <c:v>Product</c:v>
                </c:pt>
                <c:pt idx="2">
                  <c:v>Agile</c:v>
                </c:pt>
                <c:pt idx="3">
                  <c:v>Awareness</c:v>
                </c:pt>
                <c:pt idx="4">
                  <c:v>Seasonal</c:v>
                </c:pt>
                <c:pt idx="5">
                  <c:v>Education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7953</c:v>
                </c:pt>
                <c:pt idx="1">
                  <c:v>3361</c:v>
                </c:pt>
                <c:pt idx="2">
                  <c:v>251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95-4BDF-BE4C-628357C41FB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'Pillar Analysis'!$B$17</c:f>
              <c:strCache>
                <c:ptCount val="1"/>
                <c:pt idx="0">
                  <c:v>Avg Engagement Rate (%)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'Pillar Analysis'!$A$18:$A$28</c:f>
              <c:strCache>
                <c:ptCount val="11"/>
                <c:pt idx="0">
                  <c:v>Product Education</c:v>
                </c:pt>
                <c:pt idx="1">
                  <c:v>Campaign</c:v>
                </c:pt>
                <c:pt idx="2">
                  <c:v>Giveaway Promotion</c:v>
                </c:pt>
                <c:pt idx="3">
                  <c:v>Agile</c:v>
                </c:pt>
                <c:pt idx="4">
                  <c:v>Product Feature</c:v>
                </c:pt>
                <c:pt idx="5">
                  <c:v>Product</c:v>
                </c:pt>
                <c:pt idx="6">
                  <c:v>Bousai Education</c:v>
                </c:pt>
                <c:pt idx="7">
                  <c:v>Awareness</c:v>
                </c:pt>
                <c:pt idx="8">
                  <c:v>Seasonal</c:v>
                </c:pt>
                <c:pt idx="9">
                  <c:v>Influencer Repost</c:v>
                </c:pt>
                <c:pt idx="10">
                  <c:v>Unknown</c:v>
                </c:pt>
              </c:strCache>
            </c:strRef>
          </c:cat>
          <c:val>
            <c:numRef>
              <c:f>'Pillar Analysis'!$B$18:$B$28</c:f>
              <c:numCache>
                <c:formatCode>0.00%</c:formatCode>
                <c:ptCount val="11"/>
                <c:pt idx="0">
                  <c:v>0.18149999999999999</c:v>
                </c:pt>
                <c:pt idx="1">
                  <c:v>0.154</c:v>
                </c:pt>
                <c:pt idx="2">
                  <c:v>5.0099999999999999E-2</c:v>
                </c:pt>
                <c:pt idx="3">
                  <c:v>0.14610000000000001</c:v>
                </c:pt>
                <c:pt idx="4">
                  <c:v>2.7799999999999998E-2</c:v>
                </c:pt>
                <c:pt idx="5">
                  <c:v>2.7199999999999998E-2</c:v>
                </c:pt>
                <c:pt idx="6">
                  <c:v>0.14710000000000001</c:v>
                </c:pt>
                <c:pt idx="7">
                  <c:v>1.9300000000000001E-2</c:v>
                </c:pt>
                <c:pt idx="8">
                  <c:v>2.23E-2</c:v>
                </c:pt>
                <c:pt idx="9">
                  <c:v>0.22770000000000001</c:v>
                </c:pt>
                <c:pt idx="10" formatCode="0%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B3-4D93-B269-B9CEA72A032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94656304"/>
        <c:axId val="594649232"/>
      </c:barChart>
      <c:catAx>
        <c:axId val="594656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4649232"/>
        <c:crosses val="autoZero"/>
        <c:auto val="1"/>
        <c:lblAlgn val="ctr"/>
        <c:lblOffset val="100"/>
        <c:noMultiLvlLbl val="0"/>
      </c:catAx>
      <c:valAx>
        <c:axId val="5946492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46563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Eng/Post</c:v>
                </c:pt>
              </c:strCache>
            </c:strRef>
          </c:tx>
          <c:spPr>
            <a:solidFill>
              <a:srgbClr val="2E6DB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Video</c:v>
                </c:pt>
                <c:pt idx="1">
                  <c:v>Photo</c:v>
                </c:pt>
                <c:pt idx="2">
                  <c:v>Carousel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1690</c:v>
                </c:pt>
                <c:pt idx="1">
                  <c:v>668</c:v>
                </c:pt>
                <c:pt idx="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2C4-420C-9B0B-77D38A88282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Impressions</c:v>
                </c:pt>
              </c:strCache>
            </c:strRef>
          </c:tx>
          <c:spPr>
            <a:ln w="31750" cap="flat">
              <a:solidFill>
                <a:srgbClr val="2E6DB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6DB4"/>
              </a:solidFill>
              <a:ln w="9525" cap="flat">
                <a:solidFill>
                  <a:srgbClr val="2E6DB4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801497</c:v>
                </c:pt>
                <c:pt idx="1">
                  <c:v>2611487</c:v>
                </c:pt>
                <c:pt idx="2">
                  <c:v>1997128</c:v>
                </c:pt>
                <c:pt idx="3">
                  <c:v>15047</c:v>
                </c:pt>
                <c:pt idx="4">
                  <c:v>3754341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464-4B11-BF09-880518B2640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Reach</c:v>
                </c:pt>
              </c:strCache>
            </c:strRef>
          </c:tx>
          <c:spPr>
            <a:ln w="31750" cap="flat">
              <a:solidFill>
                <a:srgbClr val="E8792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8792B"/>
              </a:solidFill>
              <a:ln w="9525" cap="flat">
                <a:solidFill>
                  <a:srgbClr val="E8792B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783903</c:v>
                </c:pt>
                <c:pt idx="1">
                  <c:v>2340597</c:v>
                </c:pt>
                <c:pt idx="2">
                  <c:v>1983814</c:v>
                </c:pt>
                <c:pt idx="3">
                  <c:v>14573</c:v>
                </c:pt>
                <c:pt idx="4">
                  <c:v>1069657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464-4B11-BF09-880518B264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2A4A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B2A4A"/>
                </a:solidFill>
                <a:latin typeface="Arial"/>
              </a:rPr>
              <a:t>Monthly Engagement Rate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Engagement Rate %</c:v>
                </c:pt>
              </c:strCache>
            </c:strRef>
          </c:tx>
          <c:spPr>
            <a:solidFill>
              <a:srgbClr val="3EAC6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13.4</c:v>
                </c:pt>
                <c:pt idx="1">
                  <c:v>8</c:v>
                </c:pt>
                <c:pt idx="2">
                  <c:v>29.3</c:v>
                </c:pt>
                <c:pt idx="3">
                  <c:v>3</c:v>
                </c:pt>
                <c:pt idx="4">
                  <c:v>4.4000000000000004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FB-451A-9C3D-BB9D47AD648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2A4A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B2A4A"/>
                </a:solidFill>
                <a:latin typeface="Arial"/>
              </a:rPr>
              <a:t>Likes vs Comments by Month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Likes</c:v>
                </c:pt>
              </c:strCache>
            </c:strRef>
          </c:tx>
          <c:spPr>
            <a:solidFill>
              <a:srgbClr val="D94B43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91</c:v>
                </c:pt>
                <c:pt idx="1">
                  <c:v>180</c:v>
                </c:pt>
                <c:pt idx="2">
                  <c:v>79</c:v>
                </c:pt>
                <c:pt idx="3">
                  <c:v>68</c:v>
                </c:pt>
                <c:pt idx="4">
                  <c:v>365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81-4381-8D59-E08331AFDD1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Comments</c:v>
                </c:pt>
              </c:strCache>
            </c:strRef>
          </c:tx>
          <c:spPr>
            <a:solidFill>
              <a:srgbClr val="2E6DB4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217</c:v>
                </c:pt>
                <c:pt idx="1">
                  <c:v>186</c:v>
                </c:pt>
                <c:pt idx="2">
                  <c:v>183</c:v>
                </c:pt>
                <c:pt idx="3">
                  <c:v>239</c:v>
                </c:pt>
                <c:pt idx="4">
                  <c:v>189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D81-4381-8D59-E08331AFDD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1525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cheil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115" y="4516032"/>
            <a:ext cx="1585487" cy="4756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4668" y="169912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E87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MARKETING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143000" y="1955712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Campaign Analysis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1143000" y="30529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649 Posts  |  2 Channels  |  13 Markets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0" y="4753461"/>
            <a:ext cx="352132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by: Saranya C J  | 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REPORT COVERS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1600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344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Performance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trends, channel splits, key KPIs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97280"/>
            <a:ext cx="73152" cy="1600200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2344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6D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937760" y="1691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&amp; Engagement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2057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Pillars, format analysis, audience behaviour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971800"/>
            <a:ext cx="73152" cy="1600200"/>
          </a:xfrm>
          <a:prstGeom prst="rect">
            <a:avLst/>
          </a:prstGeom>
          <a:solidFill>
            <a:srgbClr val="E8792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108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7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31520" y="3566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Deep-Dive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39319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Impressions, reach, ER, likes &amp; comments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971800"/>
            <a:ext cx="73152" cy="1600200"/>
          </a:xfrm>
          <a:prstGeom prst="rect">
            <a:avLst/>
          </a:prstGeom>
          <a:solidFill>
            <a:srgbClr val="3EAC6A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108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EAC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937760" y="3566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 &amp; Recommendations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37760" y="39319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key learnings + 3 actionable recommendations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 OVERALL PERFORMANCE — KPI SCORE CARD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6974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269748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3444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649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Posts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2402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Jul–Nov 2024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6974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51560"/>
            <a:ext cx="2697480" cy="54864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123444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E6D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1.07M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246120" y="19202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Engagements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46120" y="22402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Facebook-driven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051560"/>
            <a:ext cx="26974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51560"/>
            <a:ext cx="2697480" cy="54864"/>
          </a:xfrm>
          <a:prstGeom prst="rect">
            <a:avLst/>
          </a:prstGeom>
          <a:solidFill>
            <a:srgbClr val="E8792B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23444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7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9.18M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126480" y="19202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Impressions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26480" y="22402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channels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017520"/>
            <a:ext cx="26974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017520"/>
            <a:ext cx="2697480" cy="54864"/>
          </a:xfrm>
          <a:prstGeom prst="rect">
            <a:avLst/>
          </a:prstGeom>
          <a:solidFill>
            <a:srgbClr val="3EAC6A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20040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EAC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6.19M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365760" y="38862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Reach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42062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accounts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46120" y="3017520"/>
            <a:ext cx="26974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3017520"/>
            <a:ext cx="2697480" cy="54864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26" name="Text 24"/>
          <p:cNvSpPr/>
          <p:nvPr/>
        </p:nvSpPr>
        <p:spPr>
          <a:xfrm>
            <a:off x="3246120" y="320040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E6D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11.6%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3246120" y="38862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Engagement Rate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46120" y="42062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Median: 5.0%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3017520"/>
            <a:ext cx="26974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3017520"/>
            <a:ext cx="269748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1" name="Text 29"/>
          <p:cNvSpPr/>
          <p:nvPr/>
        </p:nvSpPr>
        <p:spPr>
          <a:xfrm>
            <a:off x="6126480" y="320040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6126480" y="38862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Month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26480" y="42062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585K engagements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>
            <a:extLst>
              <a:ext uri="{FF2B5EF4-FFF2-40B4-BE49-F238E27FC236}">
                <a16:creationId xmlns:a16="http://schemas.microsoft.com/office/drawing/2014/main" id="{DB291F52-B5CA-4982-89CC-288D05B3DD6B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Box 3"/>
          <p:cNvSpPr txBox="1"/>
          <p:nvPr/>
        </p:nvSpPr>
        <p:spPr>
          <a:xfrm>
            <a:off x="502920" y="222795"/>
            <a:ext cx="425789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0" dirty="0">
                <a:solidFill>
                  <a:srgbClr val="FFFFFF"/>
                </a:solidFill>
                <a:latin typeface="Georgia" panose="02040502050405020303" pitchFamily="18" charset="0"/>
              </a:rPr>
              <a:t>OVERALL PERFORMANCE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8004"/>
            <a:ext cx="284565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 dirty="0">
                <a:solidFill>
                  <a:srgbClr val="CCD6FF"/>
                </a:solidFill>
              </a:rPr>
              <a:t>Trends, content performance and unusual patterns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97280"/>
            <a:ext cx="347472" cy="34747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34747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097280"/>
            <a:ext cx="302679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 dirty="0">
                <a:solidFill>
                  <a:srgbClr val="1E2761"/>
                </a:solidFill>
              </a:rPr>
              <a:t>What are the key performance trends observed?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308922"/>
            <a:ext cx="347472" cy="347472"/>
          </a:xfrm>
          <a:prstGeom prst="rect">
            <a:avLst/>
          </a:prstGeom>
          <a:solidFill>
            <a:srgbClr val="E8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2322638"/>
            <a:ext cx="34747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246611"/>
            <a:ext cx="278954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 dirty="0">
                <a:solidFill>
                  <a:srgbClr val="E8172C"/>
                </a:solidFill>
              </a:rPr>
              <a:t>Which content performed better or weaker?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033" y="3636656"/>
            <a:ext cx="347472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1015" y="3648368"/>
            <a:ext cx="34747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5386" y="3626177"/>
            <a:ext cx="69906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E67E22"/>
                </a:solidFill>
              </a:rPr>
              <a:t>Any unusual patterns or outliers identified?</a:t>
            </a:r>
          </a:p>
        </p:txBody>
      </p:sp>
      <p:sp>
        <p:nvSpPr>
          <p:cNvPr id="26" name="Rectangle 1">
            <a:extLst>
              <a:ext uri="{FF2B5EF4-FFF2-40B4-BE49-F238E27FC236}">
                <a16:creationId xmlns:a16="http://schemas.microsoft.com/office/drawing/2014/main" id="{62A00DEB-1386-4C7F-AFFD-77697BAF99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120" y="2486933"/>
            <a:ext cx="700546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Stronger Themes: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9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Campaign Pillar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content performed best with </a:t>
            </a: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18,854 avg engagements/post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followed by </a:t>
            </a:r>
            <a:r>
              <a:rPr kumimoji="0" lang="en-US" altLang="en-US" sz="9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 Education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at           </a:t>
            </a: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4,425 avg/post</a:t>
            </a:r>
            <a:r>
              <a:rPr lang="en-US" altLang="en-US" sz="900" dirty="0">
                <a:latin typeface="Arial" panose="020B0604020202020204" pitchFamily="34" charset="0"/>
              </a:rPr>
              <a:t>,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both clearly resonated with audiences.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Top Markets: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Thailand (8,501 avg/post)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Vietnam (5,340 avg/post)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led performance, standing out as the strongest markets.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Weaker Themes: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9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 Feature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3.5 avg/post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and </a:t>
            </a:r>
            <a:r>
              <a:rPr kumimoji="0" lang="en-US" altLang="en-US" sz="9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Bousai</a:t>
            </a:r>
            <a:r>
              <a:rPr kumimoji="0" lang="en-US" altLang="en-US" sz="9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Education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3.3 avg/post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generated almost no traction.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Underperforming Regions: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European markets, </a:t>
            </a: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Belgium (265), Greece (241), Hungary (257 avg/post)</a:t>
            </a:r>
            <a:r>
              <a:rPr lang="en-US" altLang="en-US" sz="900" dirty="0">
                <a:latin typeface="Arial" panose="020B0604020202020204" pitchFamily="34" charset="0"/>
              </a:rPr>
              <a:t>,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lagged far behind APAC, performing </a:t>
            </a: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30× lower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27" name="Rectangle 2">
            <a:extLst>
              <a:ext uri="{FF2B5EF4-FFF2-40B4-BE49-F238E27FC236}">
                <a16:creationId xmlns:a16="http://schemas.microsoft.com/office/drawing/2014/main" id="{58F3E705-B790-4E9F-BC09-0C04D6E367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120" y="1324470"/>
            <a:ext cx="623439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September was the peak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delivering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585K+ engagements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a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29.3% ER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over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3.5× August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Facebook drove almost all activity</a:t>
            </a:r>
            <a:r>
              <a:rPr lang="en-US" altLang="en-US" sz="1000" dirty="0">
                <a:latin typeface="Arial" panose="020B0604020202020204" pitchFamily="34" charset="0"/>
              </a:rPr>
              <a:t>,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99.8% of total engagements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while Instagram remained minimal.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Performance rose steadily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from July to September,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crashed in October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recovered in November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November impressions hit 3.75M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boosted by the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Campaign Pillar launch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29" name="Rectangle 4">
            <a:extLst>
              <a:ext uri="{FF2B5EF4-FFF2-40B4-BE49-F238E27FC236}">
                <a16:creationId xmlns:a16="http://schemas.microsoft.com/office/drawing/2014/main" id="{F008BAE1-A8C9-4B59-B6BC-0AB595F47F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827" y="3858198"/>
            <a:ext cx="7459235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October Crash: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134 posts but only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450 engagements</a:t>
            </a:r>
            <a:r>
              <a:rPr lang="en-US" altLang="en-US" sz="1000" dirty="0">
                <a:latin typeface="Arial" panose="020B0604020202020204" pitchFamily="34" charset="0"/>
              </a:rPr>
              <a:t>,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massive drop caused by a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Facebook‑only issue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(algorithm, budget   stop, or tracking error).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Campaign Pillar Wins: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Only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 Campaign posts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averaged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18,854 engagements each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far outperforming all other pillars.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APAC Leads: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 10 posts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were Product Education videos from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Thailand, Vietnam, and Taiwan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driving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76% of total engagement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 MONTHLY ENGAGEMENT TREND</a:t>
            </a:r>
            <a:endParaRPr lang="en-US" sz="1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96012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960120"/>
            <a:ext cx="32004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852160" y="1198179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OBSERVATIONS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1813424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89540" y="164158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PEAK: 585K engagements 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Thailand viral video (310K) alone exceeded all European markets.</a:t>
            </a:r>
            <a:endParaRPr lang="en-US" sz="9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2603282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89540" y="241882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CRASH: Only 450 engagements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134 posts. Facebook-specific anomaly must investigate.</a:t>
            </a:r>
            <a:endParaRPr lang="en-US" sz="9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0087" y="3442950"/>
            <a:ext cx="201168" cy="2011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177402" y="3201583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 recovery: Campaign pillar launched.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impressions (3.75M) of any month.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1E13B70-9047-4A8A-A690-11535F16A109}"/>
              </a:ext>
            </a:extLst>
          </p:cNvPr>
          <p:cNvSpPr/>
          <p:nvPr/>
        </p:nvSpPr>
        <p:spPr>
          <a:xfrm>
            <a:off x="6142246" y="1927115"/>
            <a:ext cx="2619139" cy="26133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A29484C-07F6-4956-92FB-80220A0B67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7238716"/>
              </p:ext>
            </p:extLst>
          </p:nvPr>
        </p:nvGraphicFramePr>
        <p:xfrm>
          <a:off x="296655" y="1935912"/>
          <a:ext cx="5410200" cy="12477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77900">
                  <a:extLst>
                    <a:ext uri="{9D8B030D-6E8A-4147-A177-3AD203B41FA5}">
                      <a16:colId xmlns:a16="http://schemas.microsoft.com/office/drawing/2014/main" val="2523904514"/>
                    </a:ext>
                  </a:extLst>
                </a:gridCol>
                <a:gridCol w="2197100">
                  <a:extLst>
                    <a:ext uri="{9D8B030D-6E8A-4147-A177-3AD203B41FA5}">
                      <a16:colId xmlns:a16="http://schemas.microsoft.com/office/drawing/2014/main" val="111666859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1538767494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1313483171"/>
                    </a:ext>
                  </a:extLst>
                </a:gridCol>
              </a:tblGrid>
              <a:tr h="190500">
                <a:tc gridSpan="4"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MONTH-ON-MONTH GROWTH</a:t>
                      </a:r>
                      <a:endParaRPr lang="en-US" sz="1200" b="1" i="0" u="none" strike="noStrike" dirty="0">
                        <a:solidFill>
                          <a:srgbClr val="1B2A4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559664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Period</a:t>
                      </a:r>
                      <a:endParaRPr lang="en-US" sz="1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Eng Growth %</a:t>
                      </a:r>
                      <a:endParaRPr lang="en-US" sz="1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Imp Growth %</a:t>
                      </a:r>
                      <a:endParaRPr lang="en-US" sz="1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Reach Growth %</a:t>
                      </a:r>
                      <a:endParaRPr lang="en-US" sz="1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9945016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Jul→Aug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E" sz="1100" u="none" strike="noStrike">
                          <a:effectLst/>
                        </a:rPr>
                        <a:t>94.8%</a:t>
                      </a:r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E" sz="1100" u="none" strike="noStrike">
                          <a:effectLst/>
                        </a:rPr>
                        <a:t>225.8%</a:t>
                      </a:r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E" sz="1100" u="none" strike="noStrike">
                          <a:effectLst/>
                        </a:rPr>
                        <a:t>198.6%</a:t>
                      </a:r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178134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Aug→Sep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E" sz="1100" u="none" strike="noStrike">
                          <a:effectLst/>
                        </a:rPr>
                        <a:t>179.8%</a:t>
                      </a:r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E" sz="1100" u="none" strike="noStrike">
                          <a:effectLst/>
                        </a:rPr>
                        <a:t>-23.5%</a:t>
                      </a:r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E" sz="1100" u="none" strike="noStrike">
                          <a:effectLst/>
                        </a:rPr>
                        <a:t>-15.2%</a:t>
                      </a:r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2213841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Sep→Oct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E" sz="1100" u="none" strike="noStrike" dirty="0">
                          <a:effectLst/>
                        </a:rPr>
                        <a:t>-99.9%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E" sz="1100" u="none" strike="noStrike" dirty="0">
                          <a:effectLst/>
                        </a:rPr>
                        <a:t>-99.2%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E" sz="1100" u="none" strike="noStrike">
                          <a:effectLst/>
                        </a:rPr>
                        <a:t>-99.3%</a:t>
                      </a:r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296761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Oct→Nov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E" sz="1100" u="none" strike="noStrike">
                          <a:effectLst/>
                        </a:rPr>
                        <a:t>36696.0%</a:t>
                      </a:r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E" sz="1100" u="none" strike="noStrike">
                          <a:effectLst/>
                        </a:rPr>
                        <a:t>24850.8%</a:t>
                      </a:r>
                      <a:endParaRPr lang="en-A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E" sz="1100" u="none" strike="noStrike" dirty="0">
                          <a:effectLst/>
                        </a:rPr>
                        <a:t>7240.0%</a:t>
                      </a:r>
                      <a:endParaRPr lang="en-A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88310366"/>
                  </a:ext>
                </a:extLst>
              </a:tr>
            </a:tbl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95A275AF-D0E8-4E47-B119-0C756E8F138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60670185"/>
              </p:ext>
            </p:extLst>
          </p:nvPr>
        </p:nvGraphicFramePr>
        <p:xfrm>
          <a:off x="210274" y="3203614"/>
          <a:ext cx="4174706" cy="16334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4E00689-C5D0-48DD-9491-653014E78E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508883"/>
              </p:ext>
            </p:extLst>
          </p:nvPr>
        </p:nvGraphicFramePr>
        <p:xfrm>
          <a:off x="281808" y="264861"/>
          <a:ext cx="8206345" cy="14391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5486">
                  <a:extLst>
                    <a:ext uri="{9D8B030D-6E8A-4147-A177-3AD203B41FA5}">
                      <a16:colId xmlns:a16="http://schemas.microsoft.com/office/drawing/2014/main" val="481000429"/>
                    </a:ext>
                  </a:extLst>
                </a:gridCol>
                <a:gridCol w="1472716">
                  <a:extLst>
                    <a:ext uri="{9D8B030D-6E8A-4147-A177-3AD203B41FA5}">
                      <a16:colId xmlns:a16="http://schemas.microsoft.com/office/drawing/2014/main" val="735782035"/>
                    </a:ext>
                  </a:extLst>
                </a:gridCol>
                <a:gridCol w="749127">
                  <a:extLst>
                    <a:ext uri="{9D8B030D-6E8A-4147-A177-3AD203B41FA5}">
                      <a16:colId xmlns:a16="http://schemas.microsoft.com/office/drawing/2014/main" val="38431589"/>
                    </a:ext>
                  </a:extLst>
                </a:gridCol>
                <a:gridCol w="749127">
                  <a:extLst>
                    <a:ext uri="{9D8B030D-6E8A-4147-A177-3AD203B41FA5}">
                      <a16:colId xmlns:a16="http://schemas.microsoft.com/office/drawing/2014/main" val="34539308"/>
                    </a:ext>
                  </a:extLst>
                </a:gridCol>
                <a:gridCol w="655486">
                  <a:extLst>
                    <a:ext uri="{9D8B030D-6E8A-4147-A177-3AD203B41FA5}">
                      <a16:colId xmlns:a16="http://schemas.microsoft.com/office/drawing/2014/main" val="1818211049"/>
                    </a:ext>
                  </a:extLst>
                </a:gridCol>
                <a:gridCol w="468204">
                  <a:extLst>
                    <a:ext uri="{9D8B030D-6E8A-4147-A177-3AD203B41FA5}">
                      <a16:colId xmlns:a16="http://schemas.microsoft.com/office/drawing/2014/main" val="3598556890"/>
                    </a:ext>
                  </a:extLst>
                </a:gridCol>
                <a:gridCol w="517508">
                  <a:extLst>
                    <a:ext uri="{9D8B030D-6E8A-4147-A177-3AD203B41FA5}">
                      <a16:colId xmlns:a16="http://schemas.microsoft.com/office/drawing/2014/main" val="2417248718"/>
                    </a:ext>
                  </a:extLst>
                </a:gridCol>
                <a:gridCol w="699823">
                  <a:extLst>
                    <a:ext uri="{9D8B030D-6E8A-4147-A177-3AD203B41FA5}">
                      <a16:colId xmlns:a16="http://schemas.microsoft.com/office/drawing/2014/main" val="2170247469"/>
                    </a:ext>
                  </a:extLst>
                </a:gridCol>
                <a:gridCol w="749127">
                  <a:extLst>
                    <a:ext uri="{9D8B030D-6E8A-4147-A177-3AD203B41FA5}">
                      <a16:colId xmlns:a16="http://schemas.microsoft.com/office/drawing/2014/main" val="2789985705"/>
                    </a:ext>
                  </a:extLst>
                </a:gridCol>
                <a:gridCol w="749127">
                  <a:extLst>
                    <a:ext uri="{9D8B030D-6E8A-4147-A177-3AD203B41FA5}">
                      <a16:colId xmlns:a16="http://schemas.microsoft.com/office/drawing/2014/main" val="369282475"/>
                    </a:ext>
                  </a:extLst>
                </a:gridCol>
                <a:gridCol w="740614">
                  <a:extLst>
                    <a:ext uri="{9D8B030D-6E8A-4147-A177-3AD203B41FA5}">
                      <a16:colId xmlns:a16="http://schemas.microsoft.com/office/drawing/2014/main" val="3558228295"/>
                    </a:ext>
                  </a:extLst>
                </a:gridCol>
              </a:tblGrid>
              <a:tr h="35072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</a:rPr>
                        <a:t>Month</a:t>
                      </a:r>
                      <a:endParaRPr lang="en-US" sz="105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</a:rPr>
                        <a:t>Posts</a:t>
                      </a:r>
                      <a:endParaRPr lang="en-US" sz="105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Engagements</a:t>
                      </a:r>
                      <a:endParaRPr lang="en-US" sz="105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Impressions</a:t>
                      </a:r>
                      <a:endParaRPr lang="en-US" sz="105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Reach</a:t>
                      </a:r>
                      <a:endParaRPr lang="en-US" sz="105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Likes</a:t>
                      </a:r>
                      <a:endParaRPr lang="en-US" sz="105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Comments</a:t>
                      </a:r>
                      <a:endParaRPr lang="en-US" sz="105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Avg Eng/Post</a:t>
                      </a:r>
                      <a:endParaRPr lang="en-US" sz="105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ER (Eng/Imp)</a:t>
                      </a:r>
                      <a:endParaRPr lang="en-US" sz="105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ER (Eng/Reach)</a:t>
                      </a:r>
                      <a:endParaRPr lang="en-US" sz="105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Avg Reach by post</a:t>
                      </a:r>
                      <a:endParaRPr lang="en-US" sz="105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ctr"/>
                </a:tc>
                <a:extLst>
                  <a:ext uri="{0D108BD9-81ED-4DB2-BD59-A6C34878D82A}">
                    <a16:rowId xmlns:a16="http://schemas.microsoft.com/office/drawing/2014/main" val="2201900891"/>
                  </a:ext>
                </a:extLst>
              </a:tr>
              <a:tr h="18140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July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050" u="none" strike="noStrike" dirty="0">
                          <a:effectLst/>
                        </a:rPr>
                        <a:t>145</a:t>
                      </a:r>
                      <a:endParaRPr lang="en-AE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050" u="none" strike="noStrike">
                          <a:effectLst/>
                        </a:rPr>
                        <a:t>107,491</a:t>
                      </a:r>
                      <a:endParaRPr lang="en-AE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050" u="none" strike="noStrike">
                          <a:effectLst/>
                        </a:rPr>
                        <a:t>801,497</a:t>
                      </a:r>
                      <a:endParaRPr lang="en-AE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050" u="none" strike="noStrike">
                          <a:effectLst/>
                        </a:rPr>
                        <a:t>783,903</a:t>
                      </a:r>
                      <a:endParaRPr lang="en-AE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050" u="none" strike="noStrike">
                          <a:effectLst/>
                        </a:rPr>
                        <a:t>91</a:t>
                      </a:r>
                      <a:endParaRPr lang="en-AE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050" u="none" strike="noStrike">
                          <a:effectLst/>
                        </a:rPr>
                        <a:t>217</a:t>
                      </a:r>
                      <a:endParaRPr lang="en-AE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050" u="none" strike="noStrike">
                          <a:effectLst/>
                        </a:rPr>
                        <a:t>741.3</a:t>
                      </a:r>
                      <a:endParaRPr lang="en-AE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050" u="none" strike="noStrike">
                          <a:effectLst/>
                        </a:rPr>
                        <a:t>13.4%</a:t>
                      </a:r>
                      <a:endParaRPr lang="en-AE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050" u="none" strike="noStrike">
                          <a:effectLst/>
                        </a:rPr>
                        <a:t>13.7%</a:t>
                      </a:r>
                      <a:endParaRPr lang="en-AE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E" sz="1050" u="none" strike="noStrike">
                          <a:effectLst/>
                        </a:rPr>
                        <a:t>5406.227586</a:t>
                      </a:r>
                      <a:endParaRPr lang="en-AE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91" marR="4091" marT="4091" marB="0" anchor="b"/>
                </a:tc>
                <a:extLst>
                  <a:ext uri="{0D108BD9-81ED-4DB2-BD59-A6C34878D82A}">
                    <a16:rowId xmlns:a16="http://schemas.microsoft.com/office/drawing/2014/main" val="3092224441"/>
                  </a:ext>
                </a:extLst>
              </a:tr>
              <a:tr h="18140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August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050" u="none" strike="noStrike">
                          <a:effectLst/>
                        </a:rPr>
                        <a:t>116</a:t>
                      </a:r>
                      <a:endParaRPr lang="en-AE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050" u="none" strike="noStrike" dirty="0">
                          <a:effectLst/>
                        </a:rPr>
                        <a:t>209,361</a:t>
                      </a:r>
                      <a:endParaRPr lang="en-AE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050" u="none" strike="noStrike" dirty="0">
                          <a:effectLst/>
                        </a:rPr>
                        <a:t>2,611,487</a:t>
                      </a:r>
                      <a:endParaRPr lang="en-AE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050" u="none" strike="noStrike">
                          <a:effectLst/>
                        </a:rPr>
                        <a:t>2,340,597</a:t>
                      </a:r>
                      <a:endParaRPr lang="en-AE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050" u="none" strike="noStrike">
                          <a:effectLst/>
                        </a:rPr>
                        <a:t>180</a:t>
                      </a:r>
                      <a:endParaRPr lang="en-AE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050" u="none" strike="noStrike">
                          <a:effectLst/>
                        </a:rPr>
                        <a:t>186</a:t>
                      </a:r>
                      <a:endParaRPr lang="en-AE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050" u="none" strike="noStrike">
                          <a:effectLst/>
                        </a:rPr>
                        <a:t>1,804.8</a:t>
                      </a:r>
                      <a:endParaRPr lang="en-AE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050" u="none" strike="noStrike">
                          <a:effectLst/>
                        </a:rPr>
                        <a:t>8.0%</a:t>
                      </a:r>
                      <a:endParaRPr lang="en-AE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050" u="none" strike="noStrike">
                          <a:effectLst/>
                        </a:rPr>
                        <a:t>8.9%</a:t>
                      </a:r>
                      <a:endParaRPr lang="en-AE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E" sz="1050" u="none" strike="noStrike">
                          <a:effectLst/>
                        </a:rPr>
                        <a:t>20177.56034</a:t>
                      </a:r>
                      <a:endParaRPr lang="en-AE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91" marR="4091" marT="4091" marB="0" anchor="b"/>
                </a:tc>
                <a:extLst>
                  <a:ext uri="{0D108BD9-81ED-4DB2-BD59-A6C34878D82A}">
                    <a16:rowId xmlns:a16="http://schemas.microsoft.com/office/drawing/2014/main" val="1428226348"/>
                  </a:ext>
                </a:extLst>
              </a:tr>
              <a:tr h="18140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September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050" u="none" strike="noStrike">
                          <a:effectLst/>
                        </a:rPr>
                        <a:t>121</a:t>
                      </a:r>
                      <a:endParaRPr lang="en-AE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050" u="none" strike="noStrike">
                          <a:effectLst/>
                        </a:rPr>
                        <a:t>585,696</a:t>
                      </a:r>
                      <a:endParaRPr lang="en-AE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050" u="none" strike="noStrike">
                          <a:effectLst/>
                        </a:rPr>
                        <a:t>1,997,128</a:t>
                      </a:r>
                      <a:endParaRPr lang="en-AE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050" u="none" strike="noStrike" dirty="0">
                          <a:effectLst/>
                        </a:rPr>
                        <a:t>1,983,814</a:t>
                      </a:r>
                      <a:endParaRPr lang="en-AE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050" u="none" strike="noStrike">
                          <a:effectLst/>
                        </a:rPr>
                        <a:t>79</a:t>
                      </a:r>
                      <a:endParaRPr lang="en-AE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050" u="none" strike="noStrike">
                          <a:effectLst/>
                        </a:rPr>
                        <a:t>183</a:t>
                      </a:r>
                      <a:endParaRPr lang="en-AE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050" u="none" strike="noStrike">
                          <a:effectLst/>
                        </a:rPr>
                        <a:t>4,840.5</a:t>
                      </a:r>
                      <a:endParaRPr lang="en-AE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050" u="none" strike="noStrike">
                          <a:effectLst/>
                        </a:rPr>
                        <a:t>29.3%</a:t>
                      </a:r>
                      <a:endParaRPr lang="en-AE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050" u="none" strike="noStrike">
                          <a:effectLst/>
                        </a:rPr>
                        <a:t>29.5%</a:t>
                      </a:r>
                      <a:endParaRPr lang="en-AE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E" sz="1050" u="none" strike="noStrike">
                          <a:effectLst/>
                        </a:rPr>
                        <a:t>16395.15702</a:t>
                      </a:r>
                      <a:endParaRPr lang="en-AE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91" marR="4091" marT="4091" marB="0" anchor="b"/>
                </a:tc>
                <a:extLst>
                  <a:ext uri="{0D108BD9-81ED-4DB2-BD59-A6C34878D82A}">
                    <a16:rowId xmlns:a16="http://schemas.microsoft.com/office/drawing/2014/main" val="1459787518"/>
                  </a:ext>
                </a:extLst>
              </a:tr>
              <a:tr h="18140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October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050" u="none" strike="noStrike">
                          <a:effectLst/>
                        </a:rPr>
                        <a:t>134</a:t>
                      </a:r>
                      <a:endParaRPr lang="en-AE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050" u="none" strike="noStrike">
                          <a:effectLst/>
                        </a:rPr>
                        <a:t>450</a:t>
                      </a:r>
                      <a:endParaRPr lang="en-AE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050" u="none" strike="noStrike">
                          <a:effectLst/>
                        </a:rPr>
                        <a:t>15,047</a:t>
                      </a:r>
                      <a:endParaRPr lang="en-AE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050" u="none" strike="noStrike">
                          <a:effectLst/>
                        </a:rPr>
                        <a:t>14,573</a:t>
                      </a:r>
                      <a:endParaRPr lang="en-AE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050" u="none" strike="noStrike" dirty="0">
                          <a:effectLst/>
                        </a:rPr>
                        <a:t>68</a:t>
                      </a:r>
                      <a:endParaRPr lang="en-AE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050" u="none" strike="noStrike" dirty="0">
                          <a:effectLst/>
                        </a:rPr>
                        <a:t>239</a:t>
                      </a:r>
                      <a:endParaRPr lang="en-AE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050" u="none" strike="noStrike" dirty="0">
                          <a:effectLst/>
                        </a:rPr>
                        <a:t>3.4</a:t>
                      </a:r>
                      <a:endParaRPr lang="en-AE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050" u="none" strike="noStrike">
                          <a:effectLst/>
                        </a:rPr>
                        <a:t>3.0%</a:t>
                      </a:r>
                      <a:endParaRPr lang="en-AE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050" u="none" strike="noStrike">
                          <a:effectLst/>
                        </a:rPr>
                        <a:t>3.1%</a:t>
                      </a:r>
                      <a:endParaRPr lang="en-AE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E" sz="1050" u="none" strike="noStrike">
                          <a:effectLst/>
                        </a:rPr>
                        <a:t>108.7537313</a:t>
                      </a:r>
                      <a:endParaRPr lang="en-AE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91" marR="4091" marT="4091" marB="0" anchor="b"/>
                </a:tc>
                <a:extLst>
                  <a:ext uri="{0D108BD9-81ED-4DB2-BD59-A6C34878D82A}">
                    <a16:rowId xmlns:a16="http://schemas.microsoft.com/office/drawing/2014/main" val="3114071165"/>
                  </a:ext>
                </a:extLst>
              </a:tr>
              <a:tr h="18140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November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050" u="none" strike="noStrike">
                          <a:effectLst/>
                        </a:rPr>
                        <a:t>133</a:t>
                      </a:r>
                      <a:endParaRPr lang="en-AE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050" u="none" strike="noStrike">
                          <a:effectLst/>
                        </a:rPr>
                        <a:t>165,582</a:t>
                      </a:r>
                      <a:endParaRPr lang="en-AE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050" u="none" strike="noStrike">
                          <a:effectLst/>
                        </a:rPr>
                        <a:t>3,754,341</a:t>
                      </a:r>
                      <a:endParaRPr lang="en-AE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050" u="none" strike="noStrike">
                          <a:effectLst/>
                        </a:rPr>
                        <a:t>1,069,657</a:t>
                      </a:r>
                      <a:endParaRPr lang="en-AE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050" u="none" strike="noStrike">
                          <a:effectLst/>
                        </a:rPr>
                        <a:t>365</a:t>
                      </a:r>
                      <a:endParaRPr lang="en-AE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050" u="none" strike="noStrike">
                          <a:effectLst/>
                        </a:rPr>
                        <a:t>189</a:t>
                      </a:r>
                      <a:endParaRPr lang="en-AE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050" u="none" strike="noStrike">
                          <a:effectLst/>
                        </a:rPr>
                        <a:t>1,245.0</a:t>
                      </a:r>
                      <a:endParaRPr lang="en-AE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050" u="none" strike="noStrike" dirty="0">
                          <a:effectLst/>
                        </a:rPr>
                        <a:t>4.4%</a:t>
                      </a:r>
                      <a:endParaRPr lang="en-AE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AE" sz="1050" u="none" strike="noStrike">
                          <a:effectLst/>
                        </a:rPr>
                        <a:t>15.5%</a:t>
                      </a:r>
                      <a:endParaRPr lang="en-AE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E" sz="1050" u="none" strike="noStrike">
                          <a:effectLst/>
                        </a:rPr>
                        <a:t>8042.533835</a:t>
                      </a:r>
                      <a:endParaRPr lang="en-AE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91" marR="4091" marT="4091" marB="0" anchor="b"/>
                </a:tc>
                <a:extLst>
                  <a:ext uri="{0D108BD9-81ED-4DB2-BD59-A6C34878D82A}">
                    <a16:rowId xmlns:a16="http://schemas.microsoft.com/office/drawing/2014/main" val="4099667275"/>
                  </a:ext>
                </a:extLst>
              </a:tr>
              <a:tr h="181409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u="none" strike="noStrike">
                          <a:effectLst/>
                        </a:rPr>
                        <a:t>TOTAL</a:t>
                      </a:r>
                      <a:endParaRPr lang="en-US" sz="105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E" sz="1050" u="none" strike="noStrike">
                          <a:effectLst/>
                        </a:rPr>
                        <a:t>649</a:t>
                      </a:r>
                      <a:endParaRPr lang="en-AE" sz="105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E" sz="1050" u="none" strike="noStrike">
                          <a:effectLst/>
                        </a:rPr>
                        <a:t>1,068,580</a:t>
                      </a:r>
                      <a:endParaRPr lang="en-AE" sz="105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E" sz="1050" u="none" strike="noStrike">
                          <a:effectLst/>
                        </a:rPr>
                        <a:t>9,179,500</a:t>
                      </a:r>
                      <a:endParaRPr lang="en-AE" sz="105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E" sz="1050" u="none" strike="noStrike">
                          <a:effectLst/>
                        </a:rPr>
                        <a:t>6,192,544</a:t>
                      </a:r>
                      <a:endParaRPr lang="en-AE" sz="105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E" sz="1050" u="none" strike="noStrike">
                          <a:effectLst/>
                        </a:rPr>
                        <a:t>783</a:t>
                      </a:r>
                      <a:endParaRPr lang="en-AE" sz="105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E" sz="1050" u="none" strike="noStrike">
                          <a:effectLst/>
                        </a:rPr>
                        <a:t>1,014</a:t>
                      </a:r>
                      <a:endParaRPr lang="en-AE" sz="105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E" sz="1050" u="none" strike="noStrike">
                          <a:effectLst/>
                        </a:rPr>
                        <a:t>1,646.5</a:t>
                      </a:r>
                      <a:endParaRPr lang="en-AE" sz="105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E" sz="1050" u="none" strike="noStrike">
                          <a:effectLst/>
                        </a:rPr>
                        <a:t>11.6%</a:t>
                      </a:r>
                      <a:endParaRPr lang="en-AE" sz="105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E" sz="1050" u="none" strike="noStrike" dirty="0">
                          <a:effectLst/>
                        </a:rPr>
                        <a:t>17.3%</a:t>
                      </a:r>
                      <a:endParaRPr lang="en-AE" sz="105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91" marR="4091" marT="409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E" sz="1050" u="none" strike="noStrike" dirty="0">
                          <a:effectLst/>
                        </a:rPr>
                        <a:t>9541.670262</a:t>
                      </a:r>
                      <a:endParaRPr lang="en-AE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91" marR="4091" marT="4091" marB="0" anchor="b"/>
                </a:tc>
                <a:extLst>
                  <a:ext uri="{0D108BD9-81ED-4DB2-BD59-A6C34878D82A}">
                    <a16:rowId xmlns:a16="http://schemas.microsoft.com/office/drawing/2014/main" val="52594571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E062823-4AA2-442E-AAED-D2C41AE1558F}"/>
              </a:ext>
            </a:extLst>
          </p:cNvPr>
          <p:cNvSpPr txBox="1"/>
          <p:nvPr/>
        </p:nvSpPr>
        <p:spPr>
          <a:xfrm>
            <a:off x="6239164" y="1939112"/>
            <a:ext cx="252222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sz="1000" b="1" dirty="0" err="1">
                <a:effectLst/>
              </a:rPr>
              <a:t>Jul→Aug</a:t>
            </a:r>
            <a:r>
              <a:rPr lang="en-US" sz="1000" b="1" dirty="0">
                <a:effectLst/>
              </a:rPr>
              <a:t>:</a:t>
            </a:r>
            <a:r>
              <a:rPr lang="en-US" sz="1000" dirty="0">
                <a:effectLst/>
              </a:rPr>
              <a:t> Strong growth across all metrics  campaign gained early traction.</a:t>
            </a:r>
            <a:endParaRPr lang="en-US" sz="1000" dirty="0"/>
          </a:p>
          <a:p>
            <a:pPr>
              <a:buFont typeface="+mj-lt"/>
              <a:buAutoNum type="arabicPeriod"/>
            </a:pPr>
            <a:endParaRPr lang="en-US" sz="1000" b="1" dirty="0">
              <a:effectLst/>
            </a:endParaRPr>
          </a:p>
          <a:p>
            <a:pPr>
              <a:buFont typeface="+mj-lt"/>
              <a:buAutoNum type="arabicPeriod"/>
            </a:pPr>
            <a:r>
              <a:rPr lang="en-US" sz="1000" b="1" dirty="0" err="1">
                <a:effectLst/>
              </a:rPr>
              <a:t>Aug→Sep</a:t>
            </a:r>
            <a:r>
              <a:rPr lang="en-US" sz="1000" b="1" dirty="0">
                <a:effectLst/>
              </a:rPr>
              <a:t>:</a:t>
            </a:r>
            <a:r>
              <a:rPr lang="en-US" sz="1000" dirty="0">
                <a:effectLst/>
              </a:rPr>
              <a:t> Engagement rose sharply, but reach and impressions dropped slightly.</a:t>
            </a:r>
            <a:endParaRPr lang="en-US" sz="1000" dirty="0"/>
          </a:p>
          <a:p>
            <a:pPr>
              <a:buFont typeface="+mj-lt"/>
              <a:buAutoNum type="arabicPeriod"/>
            </a:pPr>
            <a:endParaRPr lang="en-US" sz="1000" b="1" dirty="0">
              <a:effectLst/>
            </a:endParaRPr>
          </a:p>
          <a:p>
            <a:pPr>
              <a:buFont typeface="+mj-lt"/>
              <a:buAutoNum type="arabicPeriod"/>
            </a:pPr>
            <a:r>
              <a:rPr lang="en-US" sz="1000" b="1" dirty="0" err="1">
                <a:effectLst/>
              </a:rPr>
              <a:t>Sep→Oct</a:t>
            </a:r>
            <a:r>
              <a:rPr lang="en-US" sz="1000" b="1" dirty="0">
                <a:effectLst/>
              </a:rPr>
              <a:t>:</a:t>
            </a:r>
            <a:r>
              <a:rPr lang="en-US" sz="1000" dirty="0">
                <a:effectLst/>
              </a:rPr>
              <a:t> Major decline activity or visibility almost stopped.</a:t>
            </a:r>
            <a:endParaRPr lang="en-US" sz="1000" dirty="0"/>
          </a:p>
          <a:p>
            <a:pPr>
              <a:buFont typeface="+mj-lt"/>
              <a:buAutoNum type="arabicPeriod"/>
            </a:pPr>
            <a:endParaRPr lang="en-US" sz="1000" b="1" dirty="0">
              <a:effectLst/>
            </a:endParaRPr>
          </a:p>
          <a:p>
            <a:pPr>
              <a:buFont typeface="+mj-lt"/>
              <a:buAutoNum type="arabicPeriod"/>
            </a:pPr>
            <a:r>
              <a:rPr lang="en-US" sz="1000" b="1" dirty="0" err="1">
                <a:effectLst/>
              </a:rPr>
              <a:t>Oct→Nov</a:t>
            </a:r>
            <a:r>
              <a:rPr lang="en-US" sz="1000" b="1" dirty="0">
                <a:effectLst/>
              </a:rPr>
              <a:t>:</a:t>
            </a:r>
            <a:r>
              <a:rPr lang="en-US" sz="1000" dirty="0">
                <a:effectLst/>
              </a:rPr>
              <a:t> Huge rebound campaign reactivated with massive engagement and reach spikes.</a:t>
            </a:r>
            <a:endParaRPr lang="en-US" sz="1000" dirty="0"/>
          </a:p>
          <a:p>
            <a:r>
              <a:rPr lang="en-US" sz="1000" dirty="0">
                <a:effectLst/>
              </a:rPr>
              <a:t>👉</a:t>
            </a:r>
          </a:p>
          <a:p>
            <a:r>
              <a:rPr lang="en-US" sz="1000" dirty="0">
                <a:effectLst/>
              </a:rPr>
              <a:t> </a:t>
            </a:r>
            <a:r>
              <a:rPr lang="en-US" sz="1000" b="1" dirty="0">
                <a:effectLst/>
              </a:rPr>
              <a:t>Overall:</a:t>
            </a:r>
            <a:r>
              <a:rPr lang="en-US" sz="1000" dirty="0">
                <a:effectLst/>
              </a:rPr>
              <a:t> Performance fluctuated heavily, showing bursts of success followed by pauses in activity.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177912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MARKET PERFORMANCE ANALYSIS</a:t>
            </a:r>
            <a:endParaRPr lang="en-US" sz="1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960120"/>
          <a:ext cx="50292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960120"/>
            <a:ext cx="32004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669280" y="960120"/>
            <a:ext cx="64008" cy="713232"/>
          </a:xfrm>
          <a:prstGeom prst="rect">
            <a:avLst/>
          </a:prstGeom>
          <a:solidFill>
            <a:srgbClr val="3EAC6A"/>
          </a:solidFill>
          <a:ln/>
        </p:spPr>
      </p:sp>
      <p:sp>
        <p:nvSpPr>
          <p:cNvPr id="7" name="Text 4"/>
          <p:cNvSpPr/>
          <p:nvPr/>
        </p:nvSpPr>
        <p:spPr>
          <a:xfrm>
            <a:off x="5852160" y="10058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EA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  Star Performers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852160" y="120700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Thailand, Vietnam, International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852160" y="140817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&gt;5,000 avg eng/post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669280" y="1801368"/>
            <a:ext cx="32004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69280" y="1801368"/>
            <a:ext cx="64008" cy="713232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12" name="Text 9"/>
          <p:cNvSpPr/>
          <p:nvPr/>
        </p:nvSpPr>
        <p:spPr>
          <a:xfrm>
            <a:off x="5852160" y="184708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6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 Solid Performers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852160" y="204825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Taiwan, Hongkong, España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852160" y="224942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700–2,000 avg eng/post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669280" y="2642616"/>
            <a:ext cx="32004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0" y="2642616"/>
            <a:ext cx="64008" cy="713232"/>
          </a:xfrm>
          <a:prstGeom prst="rect">
            <a:avLst/>
          </a:prstGeom>
          <a:solidFill>
            <a:srgbClr val="E8792B"/>
          </a:solidFill>
          <a:ln/>
        </p:spPr>
      </p:sp>
      <p:sp>
        <p:nvSpPr>
          <p:cNvPr id="17" name="Text 14"/>
          <p:cNvSpPr/>
          <p:nvPr/>
        </p:nvSpPr>
        <p:spPr>
          <a:xfrm>
            <a:off x="5852160" y="268833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7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 Developing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852160" y="288950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Belgium, Greece, </a:t>
            </a:r>
            <a:r>
              <a:rPr lang="en-US" sz="90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hugary, </a:t>
            </a:r>
            <a:r>
              <a:rPr lang="en-US" sz="900" dirty="0" err="1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ceská</a:t>
            </a: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republika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852160" y="309067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175–265 avg eng/post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669280" y="3483864"/>
            <a:ext cx="32004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669280" y="3483864"/>
            <a:ext cx="64008" cy="713232"/>
          </a:xfrm>
          <a:prstGeom prst="rect">
            <a:avLst/>
          </a:prstGeom>
          <a:solidFill>
            <a:srgbClr val="D94B43"/>
          </a:solidFill>
          <a:ln/>
        </p:spPr>
      </p:sp>
      <p:sp>
        <p:nvSpPr>
          <p:cNvPr id="22" name="Text 19"/>
          <p:cNvSpPr/>
          <p:nvPr/>
        </p:nvSpPr>
        <p:spPr>
          <a:xfrm>
            <a:off x="5852160" y="352958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4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4 Low Engagement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852160" y="37307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Turkey, Middle East, Japan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852160" y="39319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&lt;110 eng, but high ER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 CHANNEL PERFORMANCE — FACEBOOK VS INSTAGRAM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4023360" cy="502920"/>
          </a:xfrm>
          <a:prstGeom prst="rect">
            <a:avLst/>
          </a:prstGeom>
          <a:solidFill>
            <a:srgbClr val="2E6DB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69848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051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1691640"/>
            <a:ext cx="3657600" cy="9144"/>
          </a:xfrm>
          <a:prstGeom prst="rect">
            <a:avLst/>
          </a:prstGeom>
          <a:solidFill>
            <a:srgbClr val="E8EAF0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737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Posts Published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834640" y="1737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E6D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335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2194560"/>
            <a:ext cx="3657600" cy="9144"/>
          </a:xfrm>
          <a:prstGeom prst="rect">
            <a:avLst/>
          </a:prstGeom>
          <a:solidFill>
            <a:srgbClr val="E8EAF0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2240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Engagements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834640" y="2240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E6D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1.07M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2697480"/>
            <a:ext cx="3657600" cy="9144"/>
          </a:xfrm>
          <a:prstGeom prst="rect">
            <a:avLst/>
          </a:prstGeom>
          <a:solidFill>
            <a:srgbClr val="E8EAF0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2743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Engagement Rate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834640" y="2743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E6D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11.6%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3200400"/>
            <a:ext cx="3657600" cy="9144"/>
          </a:xfrm>
          <a:prstGeom prst="rect">
            <a:avLst/>
          </a:prstGeom>
          <a:solidFill>
            <a:srgbClr val="E8EAF0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3246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Reach / Post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834640" y="3246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E6D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18,451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48640" y="3749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giant: avg 18,451 reach/post. Drives 99.9% of total engagements, mostly through viral APAC video content.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754880" y="1005840"/>
            <a:ext cx="402336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754880" y="1005840"/>
            <a:ext cx="4023360" cy="502920"/>
          </a:xfrm>
          <a:prstGeom prst="rect">
            <a:avLst/>
          </a:prstGeom>
          <a:solidFill>
            <a:srgbClr val="E8792B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069848"/>
            <a:ext cx="320040" cy="32004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349240" y="1051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</a:t>
            </a:r>
            <a:endParaRPr lang="en-US" sz="1700" dirty="0"/>
          </a:p>
        </p:txBody>
      </p:sp>
      <p:sp>
        <p:nvSpPr>
          <p:cNvPr id="25" name="Shape 21"/>
          <p:cNvSpPr/>
          <p:nvPr/>
        </p:nvSpPr>
        <p:spPr>
          <a:xfrm>
            <a:off x="4937760" y="1691640"/>
            <a:ext cx="3657600" cy="9144"/>
          </a:xfrm>
          <a:prstGeom prst="rect">
            <a:avLst/>
          </a:prstGeom>
          <a:solidFill>
            <a:srgbClr val="E8EAF0"/>
          </a:solidFill>
          <a:ln/>
        </p:spPr>
      </p:sp>
      <p:sp>
        <p:nvSpPr>
          <p:cNvPr id="26" name="Text 22"/>
          <p:cNvSpPr/>
          <p:nvPr/>
        </p:nvSpPr>
        <p:spPr>
          <a:xfrm>
            <a:off x="4937760" y="1737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Posts Published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7223760" y="1737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87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314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4937760" y="2194560"/>
            <a:ext cx="3657600" cy="9144"/>
          </a:xfrm>
          <a:prstGeom prst="rect">
            <a:avLst/>
          </a:prstGeom>
          <a:solidFill>
            <a:srgbClr val="E8EAF0"/>
          </a:solidFill>
          <a:ln/>
        </p:spPr>
      </p:sp>
      <p:sp>
        <p:nvSpPr>
          <p:cNvPr id="29" name="Text 25"/>
          <p:cNvSpPr/>
          <p:nvPr/>
        </p:nvSpPr>
        <p:spPr>
          <a:xfrm>
            <a:off x="4937760" y="2240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Engagements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7223760" y="2240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87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1,024</a:t>
            </a:r>
            <a:endParaRPr lang="en-US" sz="1400" dirty="0"/>
          </a:p>
        </p:txBody>
      </p:sp>
      <p:sp>
        <p:nvSpPr>
          <p:cNvPr id="31" name="Shape 27"/>
          <p:cNvSpPr/>
          <p:nvPr/>
        </p:nvSpPr>
        <p:spPr>
          <a:xfrm>
            <a:off x="4937760" y="2697480"/>
            <a:ext cx="3657600" cy="9144"/>
          </a:xfrm>
          <a:prstGeom prst="rect">
            <a:avLst/>
          </a:prstGeom>
          <a:solidFill>
            <a:srgbClr val="E8EAF0"/>
          </a:solidFill>
          <a:ln/>
        </p:spPr>
      </p:sp>
      <p:sp>
        <p:nvSpPr>
          <p:cNvPr id="32" name="Text 28"/>
          <p:cNvSpPr/>
          <p:nvPr/>
        </p:nvSpPr>
        <p:spPr>
          <a:xfrm>
            <a:off x="4937760" y="2743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Engagement Rate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7223760" y="27432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87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8.9%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4937760" y="3200400"/>
            <a:ext cx="3657600" cy="9144"/>
          </a:xfrm>
          <a:prstGeom prst="rect">
            <a:avLst/>
          </a:prstGeom>
          <a:solidFill>
            <a:srgbClr val="E8EAF0"/>
          </a:solidFill>
          <a:ln/>
        </p:spPr>
      </p:sp>
      <p:sp>
        <p:nvSpPr>
          <p:cNvPr id="35" name="Text 31"/>
          <p:cNvSpPr/>
          <p:nvPr/>
        </p:nvSpPr>
        <p:spPr>
          <a:xfrm>
            <a:off x="4937760" y="3246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Reach / Post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7223760" y="32461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87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</a:t>
            </a:r>
            <a:endParaRPr lang="en-US" sz="1400" dirty="0"/>
          </a:p>
        </p:txBody>
      </p:sp>
      <p:sp>
        <p:nvSpPr>
          <p:cNvPr id="37" name="Text 33"/>
          <p:cNvSpPr/>
          <p:nvPr/>
        </p:nvSpPr>
        <p:spPr>
          <a:xfrm>
            <a:off x="4937760" y="3749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quality: consistently higher ER than Facebook. Small but highly loyal audience. Carousel ER standout.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4FBE9640-5117-4E9A-AD86-7F6680B17ED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3546073"/>
              </p:ext>
            </p:extLst>
          </p:nvPr>
        </p:nvGraphicFramePr>
        <p:xfrm>
          <a:off x="152926" y="2197601"/>
          <a:ext cx="3886200" cy="2416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D85FEA4-17A0-46F4-BE5F-075604A65D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254854"/>
              </p:ext>
            </p:extLst>
          </p:nvPr>
        </p:nvGraphicFramePr>
        <p:xfrm>
          <a:off x="472966" y="387239"/>
          <a:ext cx="8185456" cy="16559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3192">
                  <a:extLst>
                    <a:ext uri="{9D8B030D-6E8A-4147-A177-3AD203B41FA5}">
                      <a16:colId xmlns:a16="http://schemas.microsoft.com/office/drawing/2014/main" val="3441074871"/>
                    </a:ext>
                  </a:extLst>
                </a:gridCol>
                <a:gridCol w="2031878">
                  <a:extLst>
                    <a:ext uri="{9D8B030D-6E8A-4147-A177-3AD203B41FA5}">
                      <a16:colId xmlns:a16="http://schemas.microsoft.com/office/drawing/2014/main" val="215713161"/>
                    </a:ext>
                  </a:extLst>
                </a:gridCol>
                <a:gridCol w="1490046">
                  <a:extLst>
                    <a:ext uri="{9D8B030D-6E8A-4147-A177-3AD203B41FA5}">
                      <a16:colId xmlns:a16="http://schemas.microsoft.com/office/drawing/2014/main" val="2922966533"/>
                    </a:ext>
                  </a:extLst>
                </a:gridCol>
                <a:gridCol w="1702907">
                  <a:extLst>
                    <a:ext uri="{9D8B030D-6E8A-4147-A177-3AD203B41FA5}">
                      <a16:colId xmlns:a16="http://schemas.microsoft.com/office/drawing/2014/main" val="1809514127"/>
                    </a:ext>
                  </a:extLst>
                </a:gridCol>
                <a:gridCol w="1477433">
                  <a:extLst>
                    <a:ext uri="{9D8B030D-6E8A-4147-A177-3AD203B41FA5}">
                      <a16:colId xmlns:a16="http://schemas.microsoft.com/office/drawing/2014/main" val="1078212918"/>
                    </a:ext>
                  </a:extLst>
                </a:gridCol>
              </a:tblGrid>
              <a:tr h="295658"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CHANNEL × MONTH BREAKDOWN (Engagements)</a:t>
                      </a:r>
                      <a:endParaRPr lang="en-US" sz="1400" b="1" i="0" u="none" strike="noStrike" dirty="0">
                        <a:solidFill>
                          <a:srgbClr val="1B2A4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7892988"/>
                  </a:ext>
                </a:extLst>
              </a:tr>
              <a:tr h="22671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Month</a:t>
                      </a:r>
                      <a:endParaRPr lang="en-US" sz="14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Facebook</a:t>
                      </a:r>
                      <a:endParaRPr lang="en-US" sz="14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Instagram</a:t>
                      </a:r>
                      <a:endParaRPr lang="en-US" sz="14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Total</a:t>
                      </a:r>
                      <a:endParaRPr lang="en-US" sz="14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FB Share %</a:t>
                      </a:r>
                      <a:endParaRPr lang="en-US" sz="14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148822332"/>
                  </a:ext>
                </a:extLst>
              </a:tr>
              <a:tr h="2267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July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400" u="none" strike="noStrike">
                          <a:effectLst/>
                        </a:rPr>
                        <a:t>107,278</a:t>
                      </a:r>
                      <a:endParaRPr lang="en-A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400" u="none" strike="noStrike" dirty="0">
                          <a:effectLst/>
                        </a:rPr>
                        <a:t>213</a:t>
                      </a:r>
                      <a:endParaRPr lang="en-AE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400" u="none" strike="noStrike">
                          <a:effectLst/>
                        </a:rPr>
                        <a:t>107,491</a:t>
                      </a:r>
                      <a:endParaRPr lang="en-A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400" u="none" strike="noStrike" dirty="0">
                          <a:effectLst/>
                        </a:rPr>
                        <a:t>99.8%</a:t>
                      </a:r>
                      <a:endParaRPr lang="en-AE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189462471"/>
                  </a:ext>
                </a:extLst>
              </a:tr>
              <a:tr h="2267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August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400" u="none" strike="noStrike">
                          <a:effectLst/>
                        </a:rPr>
                        <a:t>209,171</a:t>
                      </a:r>
                      <a:endParaRPr lang="en-A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400" u="none" strike="noStrike">
                          <a:effectLst/>
                        </a:rPr>
                        <a:t>190</a:t>
                      </a:r>
                      <a:endParaRPr lang="en-A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400" u="none" strike="noStrike">
                          <a:effectLst/>
                        </a:rPr>
                        <a:t>209,361</a:t>
                      </a:r>
                      <a:endParaRPr lang="en-A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400" u="none" strike="noStrike" dirty="0">
                          <a:effectLst/>
                        </a:rPr>
                        <a:t>99.9%</a:t>
                      </a:r>
                      <a:endParaRPr lang="en-AE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21964516"/>
                  </a:ext>
                </a:extLst>
              </a:tr>
              <a:tr h="2267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September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400" u="none" strike="noStrike" dirty="0">
                          <a:effectLst/>
                        </a:rPr>
                        <a:t>585,509</a:t>
                      </a:r>
                      <a:endParaRPr lang="en-AE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400" u="none" strike="noStrike" dirty="0">
                          <a:effectLst/>
                        </a:rPr>
                        <a:t>187</a:t>
                      </a:r>
                      <a:endParaRPr lang="en-AE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400" u="none" strike="noStrike">
                          <a:effectLst/>
                        </a:rPr>
                        <a:t>585,696</a:t>
                      </a:r>
                      <a:endParaRPr lang="en-A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400" u="none" strike="noStrike" dirty="0">
                          <a:effectLst/>
                        </a:rPr>
                        <a:t>100.0%</a:t>
                      </a:r>
                      <a:endParaRPr lang="en-AE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528096835"/>
                  </a:ext>
                </a:extLst>
              </a:tr>
              <a:tr h="2267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October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400" u="none" strike="noStrike" dirty="0">
                          <a:effectLst/>
                        </a:rPr>
                        <a:t>205</a:t>
                      </a:r>
                      <a:endParaRPr lang="en-AE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400" u="none" strike="noStrike">
                          <a:effectLst/>
                        </a:rPr>
                        <a:t>245</a:t>
                      </a:r>
                      <a:endParaRPr lang="en-A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400" u="none" strike="noStrike">
                          <a:effectLst/>
                        </a:rPr>
                        <a:t>450</a:t>
                      </a:r>
                      <a:endParaRPr lang="en-A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400" u="none" strike="noStrike" dirty="0">
                          <a:effectLst/>
                        </a:rPr>
                        <a:t>45.6%</a:t>
                      </a:r>
                      <a:endParaRPr lang="en-AE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66888977"/>
                  </a:ext>
                </a:extLst>
              </a:tr>
              <a:tr h="2267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November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400" u="none" strike="noStrike">
                          <a:effectLst/>
                        </a:rPr>
                        <a:t>165,393</a:t>
                      </a:r>
                      <a:endParaRPr lang="en-A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400" u="none" strike="noStrike">
                          <a:effectLst/>
                        </a:rPr>
                        <a:t>189</a:t>
                      </a:r>
                      <a:endParaRPr lang="en-A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400" u="none" strike="noStrike">
                          <a:effectLst/>
                        </a:rPr>
                        <a:t>165,582</a:t>
                      </a:r>
                      <a:endParaRPr lang="en-A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E" sz="1400" u="none" strike="noStrike" dirty="0">
                          <a:effectLst/>
                        </a:rPr>
                        <a:t>99.9%</a:t>
                      </a:r>
                      <a:endParaRPr lang="en-AE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16521843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1AD7850-BB64-4E64-9DB9-02B2413CE2DE}"/>
              </a:ext>
            </a:extLst>
          </p:cNvPr>
          <p:cNvSpPr txBox="1"/>
          <p:nvPr/>
        </p:nvSpPr>
        <p:spPr>
          <a:xfrm>
            <a:off x="3963451" y="2731883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sz="1000" b="1" dirty="0">
                <a:effectLst/>
              </a:rPr>
              <a:t>Facebook dominates</a:t>
            </a:r>
            <a:r>
              <a:rPr lang="en-US" sz="1000" dirty="0">
                <a:effectLst/>
              </a:rPr>
              <a:t> engagement across all months, consistently contributing around </a:t>
            </a:r>
            <a:r>
              <a:rPr lang="en-US" sz="1000" b="1" dirty="0">
                <a:effectLst/>
              </a:rPr>
              <a:t>99 – 100%</a:t>
            </a:r>
            <a:r>
              <a:rPr lang="en-US" sz="1000" dirty="0">
                <a:effectLst/>
              </a:rPr>
              <a:t> of total interactions.</a:t>
            </a:r>
            <a:endParaRPr lang="en-US" sz="1000" dirty="0"/>
          </a:p>
          <a:p>
            <a:pPr>
              <a:buFont typeface="+mj-lt"/>
              <a:buAutoNum type="arabicPeriod"/>
            </a:pPr>
            <a:r>
              <a:rPr lang="en-US" sz="1000" b="1" dirty="0">
                <a:effectLst/>
              </a:rPr>
              <a:t>Instagram remains minimal</a:t>
            </a:r>
            <a:r>
              <a:rPr lang="en-US" sz="1000" dirty="0">
                <a:effectLst/>
              </a:rPr>
              <a:t>, showing very low engagement numbers despite similar post counts.</a:t>
            </a:r>
            <a:endParaRPr lang="en-US" sz="1000" dirty="0"/>
          </a:p>
          <a:p>
            <a:pPr>
              <a:buFont typeface="+mj-lt"/>
              <a:buAutoNum type="arabicPeriod"/>
            </a:pPr>
            <a:r>
              <a:rPr lang="en-US" sz="1000" b="1" dirty="0">
                <a:effectLst/>
              </a:rPr>
              <a:t>September</a:t>
            </a:r>
            <a:r>
              <a:rPr lang="en-US" sz="1000" dirty="0">
                <a:effectLst/>
              </a:rPr>
              <a:t> marks the </a:t>
            </a:r>
            <a:r>
              <a:rPr lang="en-US" sz="1000" b="1" dirty="0">
                <a:effectLst/>
              </a:rPr>
              <a:t>peak performance month</a:t>
            </a:r>
            <a:r>
              <a:rPr lang="en-US" sz="1000" dirty="0">
                <a:effectLst/>
              </a:rPr>
              <a:t>, with the highest engagement totals.</a:t>
            </a:r>
            <a:endParaRPr lang="en-US" sz="1000" dirty="0"/>
          </a:p>
          <a:p>
            <a:pPr>
              <a:buFont typeface="+mj-lt"/>
              <a:buAutoNum type="arabicPeriod"/>
            </a:pPr>
            <a:r>
              <a:rPr lang="en-US" sz="1000" b="1" dirty="0">
                <a:effectLst/>
              </a:rPr>
              <a:t>October dip</a:t>
            </a:r>
            <a:r>
              <a:rPr lang="en-US" sz="1000" dirty="0">
                <a:effectLst/>
              </a:rPr>
              <a:t> indicates a possible pause or weak campaign activity.</a:t>
            </a:r>
            <a:endParaRPr lang="en-US" sz="1000" dirty="0"/>
          </a:p>
          <a:p>
            <a:pPr>
              <a:buFont typeface="+mj-lt"/>
              <a:buAutoNum type="arabicPeriod"/>
            </a:pPr>
            <a:r>
              <a:rPr lang="en-US" sz="1000" b="1" dirty="0">
                <a:effectLst/>
              </a:rPr>
              <a:t>Overall:</a:t>
            </a:r>
            <a:r>
              <a:rPr lang="en-US" sz="1000" dirty="0">
                <a:effectLst/>
              </a:rPr>
              <a:t> Facebook drives nearly all engagement, while Instagram’s impact is negligible, suggesting platform‑specific strategy refinement is needed.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733936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 CONTENT PILLAR, WHICH DRIVES ENGAGEMENT?</a:t>
            </a:r>
            <a:endParaRPr lang="en-US" sz="1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960120"/>
          <a:ext cx="50292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960120"/>
            <a:ext cx="320040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852160" y="125178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1783080"/>
            <a:ext cx="182880" cy="182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0" y="17373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= #1 per post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7,953 eng/post, but only active in November.</a:t>
            </a:r>
            <a:endParaRPr lang="en-US" sz="9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2697480"/>
            <a:ext cx="182880" cy="1828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26480" y="24688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Education drives 84% of total volume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894K of 1.07M total engagements.</a:t>
            </a:r>
            <a:endParaRPr lang="en-US" sz="9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8017" y="3406140"/>
            <a:ext cx="182880" cy="1828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126480" y="32004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of 8 pillars average &lt;10 eng/post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Agile, Seasonal, Awareness near-zero engagement. Strategy rethink needed.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6D00B9B-9AD0-4243-9AF1-2D9A8ADD13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7361771"/>
              </p:ext>
            </p:extLst>
          </p:nvPr>
        </p:nvGraphicFramePr>
        <p:xfrm>
          <a:off x="441434" y="583696"/>
          <a:ext cx="4326058" cy="33766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06035">
                  <a:extLst>
                    <a:ext uri="{9D8B030D-6E8A-4147-A177-3AD203B41FA5}">
                      <a16:colId xmlns:a16="http://schemas.microsoft.com/office/drawing/2014/main" val="1660300920"/>
                    </a:ext>
                  </a:extLst>
                </a:gridCol>
                <a:gridCol w="2320023">
                  <a:extLst>
                    <a:ext uri="{9D8B030D-6E8A-4147-A177-3AD203B41FA5}">
                      <a16:colId xmlns:a16="http://schemas.microsoft.com/office/drawing/2014/main" val="4086138355"/>
                    </a:ext>
                  </a:extLst>
                </a:gridCol>
              </a:tblGrid>
              <a:tr h="2755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Master Pillar</a:t>
                      </a:r>
                      <a:endParaRPr lang="en-US" sz="1000" b="1" i="0" u="none" strike="noStrike" dirty="0">
                        <a:solidFill>
                          <a:srgbClr val="36609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64" marR="5964" marT="59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Avg Engagement Rate (%)</a:t>
                      </a:r>
                      <a:endParaRPr lang="en-US" sz="1000" b="1" i="0" u="none" strike="noStrike">
                        <a:solidFill>
                          <a:srgbClr val="36609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64" marR="5964" marT="5964" marB="0" anchor="ctr"/>
                </a:tc>
                <a:extLst>
                  <a:ext uri="{0D108BD9-81ED-4DB2-BD59-A6C34878D82A}">
                    <a16:rowId xmlns:a16="http://schemas.microsoft.com/office/drawing/2014/main" val="2554219119"/>
                  </a:ext>
                </a:extLst>
              </a:tr>
              <a:tr h="3085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Product Education</a:t>
                      </a:r>
                      <a:endParaRPr lang="en-US" sz="1000" b="1" i="0" u="none" strike="noStrike" dirty="0">
                        <a:solidFill>
                          <a:srgbClr val="36609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64" marR="5964" marT="59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000" u="none" strike="noStrike">
                          <a:effectLst/>
                        </a:rPr>
                        <a:t>18.15%</a:t>
                      </a:r>
                      <a:endParaRPr lang="en-AE" sz="1000" b="1" i="0" u="none" strike="noStrike">
                        <a:solidFill>
                          <a:srgbClr val="36609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64" marR="5964" marT="5964" marB="0" anchor="ctr"/>
                </a:tc>
                <a:extLst>
                  <a:ext uri="{0D108BD9-81ED-4DB2-BD59-A6C34878D82A}">
                    <a16:rowId xmlns:a16="http://schemas.microsoft.com/office/drawing/2014/main" val="2246884905"/>
                  </a:ext>
                </a:extLst>
              </a:tr>
              <a:tr h="2907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Campaign</a:t>
                      </a:r>
                      <a:endParaRPr lang="en-US" sz="1000" b="1" i="0" u="none" strike="noStrike" dirty="0">
                        <a:solidFill>
                          <a:srgbClr val="36609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64" marR="5964" marT="59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000" u="none" strike="noStrike">
                          <a:effectLst/>
                        </a:rPr>
                        <a:t>15.40%</a:t>
                      </a:r>
                      <a:endParaRPr lang="en-AE" sz="1000" b="1" i="0" u="none" strike="noStrike">
                        <a:solidFill>
                          <a:srgbClr val="36609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64" marR="5964" marT="5964" marB="0" anchor="ctr"/>
                </a:tc>
                <a:extLst>
                  <a:ext uri="{0D108BD9-81ED-4DB2-BD59-A6C34878D82A}">
                    <a16:rowId xmlns:a16="http://schemas.microsoft.com/office/drawing/2014/main" val="275171527"/>
                  </a:ext>
                </a:extLst>
              </a:tr>
              <a:tr h="3203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Giveaway Promotion</a:t>
                      </a:r>
                      <a:endParaRPr lang="en-US" sz="1000" b="1" i="0" u="none" strike="noStrike" dirty="0">
                        <a:solidFill>
                          <a:srgbClr val="36609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64" marR="5964" marT="59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000" u="none" strike="noStrike">
                          <a:effectLst/>
                        </a:rPr>
                        <a:t>5.01%</a:t>
                      </a:r>
                      <a:endParaRPr lang="en-AE" sz="1000" b="1" i="0" u="none" strike="noStrike">
                        <a:solidFill>
                          <a:srgbClr val="36609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64" marR="5964" marT="5964" marB="0" anchor="ctr"/>
                </a:tc>
                <a:extLst>
                  <a:ext uri="{0D108BD9-81ED-4DB2-BD59-A6C34878D82A}">
                    <a16:rowId xmlns:a16="http://schemas.microsoft.com/office/drawing/2014/main" val="2309035996"/>
                  </a:ext>
                </a:extLst>
              </a:tr>
              <a:tr h="2681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Agile</a:t>
                      </a:r>
                      <a:endParaRPr lang="en-US" sz="1000" b="1" i="0" u="none" strike="noStrike" dirty="0">
                        <a:solidFill>
                          <a:srgbClr val="36609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64" marR="5964" marT="59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000" u="none" strike="noStrike" dirty="0">
                          <a:effectLst/>
                        </a:rPr>
                        <a:t>14.61%</a:t>
                      </a:r>
                      <a:endParaRPr lang="en-AE" sz="1000" b="1" i="0" u="none" strike="noStrike" dirty="0">
                        <a:solidFill>
                          <a:srgbClr val="36609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64" marR="5964" marT="5964" marB="0" anchor="ctr"/>
                </a:tc>
                <a:extLst>
                  <a:ext uri="{0D108BD9-81ED-4DB2-BD59-A6C34878D82A}">
                    <a16:rowId xmlns:a16="http://schemas.microsoft.com/office/drawing/2014/main" val="3648538628"/>
                  </a:ext>
                </a:extLst>
              </a:tr>
              <a:tr h="2658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Product Feature</a:t>
                      </a:r>
                      <a:endParaRPr lang="en-US" sz="1000" b="1" i="0" u="none" strike="noStrike" dirty="0">
                        <a:solidFill>
                          <a:srgbClr val="36609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64" marR="5964" marT="59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000" u="none" strike="noStrike">
                          <a:effectLst/>
                        </a:rPr>
                        <a:t>2.78%</a:t>
                      </a:r>
                      <a:endParaRPr lang="en-AE" sz="1000" b="1" i="0" u="none" strike="noStrike">
                        <a:solidFill>
                          <a:srgbClr val="36609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64" marR="5964" marT="5964" marB="0" anchor="ctr"/>
                </a:tc>
                <a:extLst>
                  <a:ext uri="{0D108BD9-81ED-4DB2-BD59-A6C34878D82A}">
                    <a16:rowId xmlns:a16="http://schemas.microsoft.com/office/drawing/2014/main" val="406831694"/>
                  </a:ext>
                </a:extLst>
              </a:tr>
              <a:tr h="2491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Product</a:t>
                      </a:r>
                      <a:endParaRPr lang="en-US" sz="1000" b="1" i="0" u="none" strike="noStrike" dirty="0">
                        <a:solidFill>
                          <a:srgbClr val="36609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64" marR="5964" marT="59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000" u="none" strike="noStrike" dirty="0">
                          <a:effectLst/>
                        </a:rPr>
                        <a:t>2.72%</a:t>
                      </a:r>
                      <a:endParaRPr lang="en-AE" sz="1000" b="1" i="0" u="none" strike="noStrike" dirty="0">
                        <a:solidFill>
                          <a:srgbClr val="36609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64" marR="5964" marT="5964" marB="0" anchor="ctr"/>
                </a:tc>
                <a:extLst>
                  <a:ext uri="{0D108BD9-81ED-4DB2-BD59-A6C34878D82A}">
                    <a16:rowId xmlns:a16="http://schemas.microsoft.com/office/drawing/2014/main" val="3323320315"/>
                  </a:ext>
                </a:extLst>
              </a:tr>
              <a:tr h="2788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 err="1">
                          <a:effectLst/>
                        </a:rPr>
                        <a:t>Bousai</a:t>
                      </a:r>
                      <a:r>
                        <a:rPr lang="en-US" sz="1000" u="none" strike="noStrike" dirty="0">
                          <a:effectLst/>
                        </a:rPr>
                        <a:t> Education</a:t>
                      </a:r>
                      <a:endParaRPr lang="en-US" sz="1000" b="1" i="0" u="none" strike="noStrike" dirty="0">
                        <a:solidFill>
                          <a:srgbClr val="36609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64" marR="5964" marT="59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000" u="none" strike="noStrike" dirty="0">
                          <a:effectLst/>
                        </a:rPr>
                        <a:t>14.71%</a:t>
                      </a:r>
                      <a:endParaRPr lang="en-AE" sz="1000" b="1" i="0" u="none" strike="noStrike" dirty="0">
                        <a:solidFill>
                          <a:srgbClr val="36609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64" marR="5964" marT="5964" marB="0" anchor="ctr"/>
                </a:tc>
                <a:extLst>
                  <a:ext uri="{0D108BD9-81ED-4DB2-BD59-A6C34878D82A}">
                    <a16:rowId xmlns:a16="http://schemas.microsoft.com/office/drawing/2014/main" val="518125754"/>
                  </a:ext>
                </a:extLst>
              </a:tr>
              <a:tr h="3085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Awareness</a:t>
                      </a:r>
                      <a:endParaRPr lang="en-US" sz="1000" b="1" i="0" u="none" strike="noStrike" dirty="0">
                        <a:solidFill>
                          <a:srgbClr val="36609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64" marR="5964" marT="59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000" u="none" strike="noStrike" dirty="0">
                          <a:effectLst/>
                        </a:rPr>
                        <a:t>1.93%</a:t>
                      </a:r>
                      <a:endParaRPr lang="en-AE" sz="1000" b="1" i="0" u="none" strike="noStrike" dirty="0">
                        <a:solidFill>
                          <a:srgbClr val="36609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64" marR="5964" marT="5964" marB="0" anchor="ctr"/>
                </a:tc>
                <a:extLst>
                  <a:ext uri="{0D108BD9-81ED-4DB2-BD59-A6C34878D82A}">
                    <a16:rowId xmlns:a16="http://schemas.microsoft.com/office/drawing/2014/main" val="2615426849"/>
                  </a:ext>
                </a:extLst>
              </a:tr>
              <a:tr h="25512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Seasonal</a:t>
                      </a:r>
                      <a:endParaRPr lang="en-US" sz="1000" b="1" i="0" u="none" strike="noStrike" dirty="0">
                        <a:solidFill>
                          <a:srgbClr val="36609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64" marR="5964" marT="59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000" u="none" strike="noStrike" dirty="0">
                          <a:effectLst/>
                        </a:rPr>
                        <a:t>2.23%</a:t>
                      </a:r>
                      <a:endParaRPr lang="en-AE" sz="1000" b="1" i="0" u="none" strike="noStrike" dirty="0">
                        <a:solidFill>
                          <a:srgbClr val="36609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64" marR="5964" marT="5964" marB="0" anchor="ctr"/>
                </a:tc>
                <a:extLst>
                  <a:ext uri="{0D108BD9-81ED-4DB2-BD59-A6C34878D82A}">
                    <a16:rowId xmlns:a16="http://schemas.microsoft.com/office/drawing/2014/main" val="2352558528"/>
                  </a:ext>
                </a:extLst>
              </a:tr>
              <a:tr h="2491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Influencer Repost</a:t>
                      </a:r>
                      <a:endParaRPr lang="en-US" sz="1000" b="1" i="0" u="none" strike="noStrike" dirty="0">
                        <a:solidFill>
                          <a:srgbClr val="36609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64" marR="5964" marT="59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000" u="none" strike="noStrike" dirty="0">
                          <a:effectLst/>
                        </a:rPr>
                        <a:t>22.77%</a:t>
                      </a:r>
                      <a:endParaRPr lang="en-AE" sz="1000" b="1" i="0" u="none" strike="noStrike" dirty="0">
                        <a:solidFill>
                          <a:srgbClr val="36609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64" marR="5964" marT="5964" marB="0" anchor="ctr"/>
                </a:tc>
                <a:extLst>
                  <a:ext uri="{0D108BD9-81ED-4DB2-BD59-A6C34878D82A}">
                    <a16:rowId xmlns:a16="http://schemas.microsoft.com/office/drawing/2014/main" val="2786520223"/>
                  </a:ext>
                </a:extLst>
              </a:tr>
              <a:tr h="3065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Unknown</a:t>
                      </a:r>
                      <a:endParaRPr lang="en-US" sz="1000" b="1" i="0" u="none" strike="noStrike">
                        <a:solidFill>
                          <a:srgbClr val="36609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64" marR="5964" marT="59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000" u="none" strike="noStrike" dirty="0">
                          <a:effectLst/>
                        </a:rPr>
                        <a:t>0%</a:t>
                      </a:r>
                      <a:endParaRPr lang="en-AE" sz="1000" b="0" i="0" u="none" strike="noStrike" dirty="0">
                        <a:solidFill>
                          <a:srgbClr val="36609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64" marR="5964" marT="5964" marB="0" anchor="ctr"/>
                </a:tc>
                <a:extLst>
                  <a:ext uri="{0D108BD9-81ED-4DB2-BD59-A6C34878D82A}">
                    <a16:rowId xmlns:a16="http://schemas.microsoft.com/office/drawing/2014/main" val="1621869429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165B95F5-E695-4FB7-87C1-F14152D21E0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2692169"/>
              </p:ext>
            </p:extLst>
          </p:nvPr>
        </p:nvGraphicFramePr>
        <p:xfrm>
          <a:off x="5000822" y="419735"/>
          <a:ext cx="3701744" cy="26130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203BF2F9-AA43-4159-825A-FA7F5DD4FDBF}"/>
              </a:ext>
            </a:extLst>
          </p:cNvPr>
          <p:cNvSpPr txBox="1"/>
          <p:nvPr/>
        </p:nvSpPr>
        <p:spPr>
          <a:xfrm>
            <a:off x="353149" y="4169767"/>
            <a:ext cx="835572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Product Education (18.15%)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Influencer Repost (22.77%)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achieved the highest engagement, showing strong audience connection.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Campaign (15.4%)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Agile (14.6%)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Bousai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Education (14.7%)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also performed well, driving consistent interaction.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Awareness and Product Feature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pillars lagged below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3%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indicating low audience interest and weak content relevance.</a:t>
            </a:r>
          </a:p>
        </p:txBody>
      </p:sp>
    </p:spTree>
    <p:extLst>
      <p:ext uri="{BB962C8B-B14F-4D97-AF65-F5344CB8AC3E}">
        <p14:creationId xmlns:p14="http://schemas.microsoft.com/office/powerpoint/2010/main" val="28792778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4448CECE-76DD-4724-8D93-835F7D3E82B3}"/>
              </a:ext>
            </a:extLst>
          </p:cNvPr>
          <p:cNvSpPr/>
          <p:nvPr/>
        </p:nvSpPr>
        <p:spPr>
          <a:xfrm>
            <a:off x="0" y="-25224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69216F6-0018-436F-A3AC-1C193E37F1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510" y="180571"/>
            <a:ext cx="454374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eorgia" panose="02040502050405020303" pitchFamily="18" charset="0"/>
              </a:rPr>
              <a:t>Performance Differences By pillars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D40CC108-DBEA-4039-BB83-269333B03A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9964765"/>
              </p:ext>
            </p:extLst>
          </p:nvPr>
        </p:nvGraphicFramePr>
        <p:xfrm>
          <a:off x="737826" y="901788"/>
          <a:ext cx="7460242" cy="39057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0121">
                  <a:extLst>
                    <a:ext uri="{9D8B030D-6E8A-4147-A177-3AD203B41FA5}">
                      <a16:colId xmlns:a16="http://schemas.microsoft.com/office/drawing/2014/main" val="2522392684"/>
                    </a:ext>
                  </a:extLst>
                </a:gridCol>
                <a:gridCol w="3730121">
                  <a:extLst>
                    <a:ext uri="{9D8B030D-6E8A-4147-A177-3AD203B41FA5}">
                      <a16:colId xmlns:a16="http://schemas.microsoft.com/office/drawing/2014/main" val="1568762714"/>
                    </a:ext>
                  </a:extLst>
                </a:gridCol>
              </a:tblGrid>
              <a:tr h="353893">
                <a:tc>
                  <a:txBody>
                    <a:bodyPr/>
                    <a:lstStyle/>
                    <a:p>
                      <a:r>
                        <a:rPr lang="en-US" sz="1400" dirty="0"/>
                        <a:t>Observation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Possible Reason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5669651"/>
                  </a:ext>
                </a:extLst>
              </a:tr>
              <a:tr h="523567">
                <a:tc>
                  <a:txBody>
                    <a:bodyPr/>
                    <a:lstStyle/>
                    <a:p>
                      <a:r>
                        <a:rPr lang="en-US" sz="1000"/>
                        <a:t>Product Education content performed best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Audiences are more likely to engage with informative and value-driven content rather than direct promotions.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7558227"/>
                  </a:ext>
                </a:extLst>
              </a:tr>
              <a:tr h="378132">
                <a:tc>
                  <a:txBody>
                    <a:bodyPr/>
                    <a:lstStyle/>
                    <a:p>
                      <a:r>
                        <a:rPr lang="en-US" sz="1000"/>
                        <a:t>Video content generated higher engagement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Videos are more visually engaging and favored by social media algorithms, increasing visibility and interaction.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3800400"/>
                  </a:ext>
                </a:extLst>
              </a:tr>
              <a:tr h="523567">
                <a:tc>
                  <a:txBody>
                    <a:bodyPr/>
                    <a:lstStyle/>
                    <a:p>
                      <a:r>
                        <a:rPr lang="en-US" sz="1000"/>
                        <a:t>Asian markets outperformed European markets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Higher social media activity, stronger audience interest, and better market-content alignment in Asian regions.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7002782"/>
                  </a:ext>
                </a:extLst>
              </a:tr>
              <a:tr h="378132">
                <a:tc>
                  <a:txBody>
                    <a:bodyPr/>
                    <a:lstStyle/>
                    <a:p>
                      <a:r>
                        <a:rPr lang="en-US" sz="1000"/>
                        <a:t>Static image posts showed weaker 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Static content is less interactive and may not capture audience attention as effectively as videos or reels.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5936184"/>
                  </a:ext>
                </a:extLst>
              </a:tr>
              <a:tr h="378132">
                <a:tc>
                  <a:txBody>
                    <a:bodyPr/>
                    <a:lstStyle/>
                    <a:p>
                      <a:r>
                        <a:rPr lang="en-US" sz="1000"/>
                        <a:t>Engagement spikes occurred on recurring dates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Campaign timing and posting schedules may have aligned well with audience activity patterns.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6492366"/>
                  </a:ext>
                </a:extLst>
              </a:tr>
              <a:tr h="523567">
                <a:tc>
                  <a:txBody>
                    <a:bodyPr/>
                    <a:lstStyle/>
                    <a:p>
                      <a:r>
                        <a:rPr lang="en-US" sz="1000"/>
                        <a:t>Some markets had high reach but lower engagement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Content may have reached many users but lacked strong relevance or emotional connection with the audience.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7316278"/>
                  </a:ext>
                </a:extLst>
              </a:tr>
              <a:tr h="378132">
                <a:tc>
                  <a:txBody>
                    <a:bodyPr/>
                    <a:lstStyle/>
                    <a:p>
                      <a:r>
                        <a:rPr lang="en-US" sz="1000"/>
                        <a:t>Educational videos drove stronger audience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Audiences likely preferred content that helped them understand products and provided practical value.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648762"/>
                  </a:ext>
                </a:extLst>
              </a:tr>
              <a:tr h="378132">
                <a:tc>
                  <a:txBody>
                    <a:bodyPr/>
                    <a:lstStyle/>
                    <a:p>
                      <a:r>
                        <a:rPr lang="en-US" sz="1000"/>
                        <a:t>Lower-performing campaigns may have weaker localization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Messaging, visuals, or language may not have been fully tailored to specific regional audiences.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60981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72611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CONTENT FORMAT </a:t>
            </a:r>
            <a:r>
              <a:rPr lang="en-US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</a:t>
            </a: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PERFORMS BEST?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9748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036" y="1129008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143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09842" y="14719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631 posts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1874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Eng/Post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920240" y="187452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6D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1,690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23317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ER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920240" y="233172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6D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11.9%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2788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Reach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920240" y="278892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6D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9,603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246120" y="1005840"/>
            <a:ext cx="269748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0702" y="1128023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881472" y="11355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cs typeface="Arial" pitchFamily="34" charset="-120"/>
              </a:rPr>
              <a:t>Album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3609516" y="14364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posts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429000" y="1874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Eng/Post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800600" y="187452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87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3429000" y="23317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ER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800600" y="233172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87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1.4%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3429000" y="2788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Reach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4800600" y="278892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87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283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126480" y="1005840"/>
            <a:ext cx="269748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0" y="1097280"/>
            <a:ext cx="320040" cy="32004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720840" y="1143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6578952" y="14555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posts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6309360" y="1874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Eng/Post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7680960" y="187452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EAC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668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6309360" y="23317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ER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7680960" y="233172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EAC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1.0%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6309360" y="2788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Reach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7680960" y="278892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EAC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42,975</a:t>
            </a:r>
            <a:endParaRPr lang="en-US" sz="1200" dirty="0"/>
          </a:p>
        </p:txBody>
      </p:sp>
      <p:graphicFrame>
        <p:nvGraphicFramePr>
          <p:cNvPr id="34" name="Chart 0"/>
          <p:cNvGraphicFramePr/>
          <p:nvPr/>
        </p:nvGraphicFramePr>
        <p:xfrm>
          <a:off x="365760" y="3566160"/>
          <a:ext cx="4114800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35" name="Text 29"/>
          <p:cNvSpPr/>
          <p:nvPr/>
        </p:nvSpPr>
        <p:spPr>
          <a:xfrm>
            <a:off x="4754880" y="365760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dominates with 631 posts and highest avg engagement. 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has highest reach (42K) but only 3 posts. Carousel only 15 posts  massively untested potential.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METRICS: IMPRESSIONS &amp; REACH</a:t>
            </a:r>
            <a:endParaRPr lang="en-US" sz="1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960120"/>
          <a:ext cx="53035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960120"/>
            <a:ext cx="29260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80760" y="10515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6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80760" y="1280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9.18M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080760" y="16459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 had highest impressions (3.75M) showing platform boosted Campaign posts. Sep generated fewer impressions but 3.5x more engagements.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943600" y="2606040"/>
            <a:ext cx="29260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7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080760" y="2926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6.19M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6080760" y="32918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Reach nearly equals Impressions (1:1 ratio) hallmark of viral spread. Facebook avg reach: 18,451/post vs Instagram's 37.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ENGAGEMENT RATE, LIKES &amp; COMMENTS</a:t>
            </a:r>
            <a:endParaRPr lang="en-US" sz="1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960120"/>
          <a:ext cx="41148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754880" y="960120"/>
          <a:ext cx="41148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3566160"/>
            <a:ext cx="841248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674766" y="3818407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7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55846" y="3963450"/>
            <a:ext cx="79395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benchmark: 1–5%. At 11.6% avg, performance exceeds benchmark significantly. However, median ER is ~5% and 71.5% of posts had &lt;5 engagements, a small number of viral posts skew the mean.</a:t>
            </a:r>
            <a:r>
              <a:rPr lang="en-US" sz="950" dirty="0"/>
              <a:t> </a:t>
            </a: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Likes (783) are low relative to total engagements (1.07M), confirming Facebook engagements are dominated by shares and reactions. Comments avg 1.6/post indicates limited two-way conversation.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71436" y="241874"/>
            <a:ext cx="459292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i="0" dirty="0">
                <a:solidFill>
                  <a:srgbClr val="FFFFFF"/>
                </a:solidFill>
                <a:latin typeface="Georgia" panose="02040502050405020303" pitchFamily="18" charset="0"/>
              </a:rPr>
              <a:t>PERFORMANCE METRICS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543912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 dirty="0">
                <a:solidFill>
                  <a:srgbClr val="CCD6FF"/>
                </a:solidFill>
              </a:rPr>
              <a:t>What each metric means and what the numbers indicate for this business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97280"/>
            <a:ext cx="45720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1603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229868"/>
            <a:ext cx="1143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1E2761"/>
                </a:solidFill>
              </a:rPr>
              <a:t>IMPRESSIONS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4087" y="1196964"/>
            <a:ext cx="66751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 dirty="0">
                <a:solidFill>
                  <a:srgbClr val="1E2761"/>
                </a:solidFill>
              </a:rPr>
              <a:t>9.18M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572768"/>
            <a:ext cx="350719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444444"/>
                </a:solidFill>
              </a:rPr>
              <a:t>Total number of times content was displayed on screen includes repeat views.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4092" y="1920240"/>
            <a:ext cx="367588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>
                <a:solidFill>
                  <a:srgbClr val="1E2761"/>
                </a:solidFill>
              </a:rPr>
              <a:t>Maximum brand awareness footprint. 9.1M impressions = significant top-of-funnel visibility. Aug &amp; Nov were highest (paid amplification). High impressions without engagement = weak content relevance.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1097280"/>
            <a:ext cx="457200" cy="457200"/>
          </a:xfrm>
          <a:prstGeom prst="rect">
            <a:avLst/>
          </a:prstGeom>
          <a:solidFill>
            <a:srgbClr val="E8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83480" y="1160345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2121" y="1213610"/>
            <a:ext cx="3017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 dirty="0">
                <a:solidFill>
                  <a:srgbClr val="E8172C"/>
                </a:solidFill>
              </a:rPr>
              <a:t>REACH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39326" y="1179686"/>
            <a:ext cx="11887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 dirty="0">
                <a:solidFill>
                  <a:srgbClr val="E8172C"/>
                </a:solidFill>
              </a:rPr>
              <a:t>6.19M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54676" y="1662134"/>
            <a:ext cx="3634328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 dirty="0">
                <a:solidFill>
                  <a:srgbClr val="444444"/>
                </a:solidFill>
              </a:rPr>
              <a:t>Number of unique accounts that saw the content at least once.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53099" y="1869883"/>
            <a:ext cx="354737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i="1" dirty="0">
                <a:solidFill>
                  <a:schemeClr val="accent1">
                    <a:lumMod val="50000"/>
                  </a:schemeClr>
                </a:solidFill>
              </a:rPr>
              <a:t>In September, Reach (1.98M) almost matched Impressions, creating a rare 1:1 ratio — a strong signal of organic, viral‑style distribution.</a:t>
            </a:r>
            <a:endParaRPr sz="1000" b="0" i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15532" y="3192156"/>
            <a:ext cx="45720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5532" y="3243115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460" y="3210444"/>
            <a:ext cx="3017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</a:rPr>
              <a:t>ENGAGEMENTS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55305" y="3192156"/>
            <a:ext cx="630301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 dirty="0">
                <a:solidFill>
                  <a:srgbClr val="E67E22"/>
                </a:solidFill>
              </a:rPr>
              <a:t>1.07M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4092" y="3700315"/>
            <a:ext cx="40927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444444"/>
                </a:solidFill>
              </a:rPr>
              <a:t>Total intentional interactions: likes, comments, shares, clicks, video views</a:t>
            </a:r>
            <a:r>
              <a:rPr sz="800" b="0" i="0" dirty="0">
                <a:solidFill>
                  <a:srgbClr val="444444"/>
                </a:solidFill>
              </a:rPr>
              <a:t>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4092" y="3924422"/>
            <a:ext cx="3886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>
                <a:solidFill>
                  <a:srgbClr val="1E2761"/>
                </a:solidFill>
              </a:rPr>
              <a:t>Over 1M actions = deep audience validation. Engagements are high-intent actions</a:t>
            </a:r>
            <a:r>
              <a:rPr lang="en-US" sz="1000" b="0" i="1" dirty="0">
                <a:solidFill>
                  <a:srgbClr val="1E2761"/>
                </a:solidFill>
              </a:rPr>
              <a:t>, </a:t>
            </a:r>
            <a:r>
              <a:rPr sz="1000" b="0" i="1" dirty="0">
                <a:solidFill>
                  <a:srgbClr val="1E2761"/>
                </a:solidFill>
              </a:rPr>
              <a:t>audiences clicked, shared, or watched video in full, not just passively scrolled past.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83480" y="3159406"/>
            <a:ext cx="457200" cy="457200"/>
          </a:xfrm>
          <a:prstGeom prst="rect">
            <a:avLst/>
          </a:prstGeom>
          <a:solidFill>
            <a:srgbClr val="1A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983480" y="3173238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31175" y="3221494"/>
            <a:ext cx="3017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 dirty="0">
                <a:solidFill>
                  <a:srgbClr val="1A8A3C"/>
                </a:solidFill>
              </a:rPr>
              <a:t>ENGAGEMENT RATE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28046" y="3178914"/>
            <a:ext cx="945204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 dirty="0">
                <a:solidFill>
                  <a:srgbClr val="1A8A3C"/>
                </a:solidFill>
              </a:rPr>
              <a:t>11.6% avg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15056" y="3708226"/>
            <a:ext cx="4114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44444"/>
                </a:solidFill>
              </a:rPr>
              <a:t>Engagements divided by Reach x 100. Measures interaction quality</a:t>
            </a:r>
            <a:endParaRPr lang="en-US" sz="900" b="0" i="0" dirty="0">
              <a:solidFill>
                <a:srgbClr val="444444"/>
              </a:solidFill>
            </a:endParaRPr>
          </a:p>
          <a:p>
            <a:pPr algn="l"/>
            <a:r>
              <a:rPr sz="900" b="0" i="0" dirty="0">
                <a:solidFill>
                  <a:srgbClr val="444444"/>
                </a:solidFill>
              </a:rPr>
              <a:t>per unique viewer</a:t>
            </a:r>
            <a:r>
              <a:rPr sz="800" b="0" i="0" dirty="0">
                <a:solidFill>
                  <a:srgbClr val="444444"/>
                </a:solidFill>
              </a:rPr>
              <a:t>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11775" y="4043090"/>
            <a:ext cx="35473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i="1" dirty="0">
                <a:solidFill>
                  <a:schemeClr val="accent1">
                    <a:lumMod val="50000"/>
                  </a:schemeClr>
                </a:solidFill>
              </a:rPr>
              <a:t>The industry benchmark sits around 1–3%, so an average engagement rate of 11.6% is exceptionally strong.</a:t>
            </a:r>
            <a:r>
              <a:rPr lang="en-US" sz="900" i="1" dirty="0">
                <a:solidFill>
                  <a:schemeClr val="accent1">
                    <a:lumMod val="50000"/>
                  </a:schemeClr>
                </a:solidFill>
              </a:rPr>
              <a:t> But when we look deeper, the median ER is closer to 5%, and </a:t>
            </a:r>
            <a:r>
              <a:rPr lang="en-US" sz="900" b="1" i="1" dirty="0">
                <a:solidFill>
                  <a:schemeClr val="accent1">
                    <a:lumMod val="50000"/>
                  </a:schemeClr>
                </a:solidFill>
              </a:rPr>
              <a:t>over 71% of posts received fewer than five engagements</a:t>
            </a:r>
            <a:r>
              <a:rPr lang="en-US" sz="900" i="1" dirty="0">
                <a:solidFill>
                  <a:schemeClr val="accent1">
                    <a:lumMod val="50000"/>
                  </a:schemeClr>
                </a:solidFill>
              </a:rPr>
              <a:t>, showing that most content underperformed.</a:t>
            </a:r>
            <a:endParaRPr sz="900" b="0" i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2EAEDCDA-2F85-4C58-80A0-999EA768AB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8817609"/>
              </p:ext>
            </p:extLst>
          </p:nvPr>
        </p:nvGraphicFramePr>
        <p:xfrm>
          <a:off x="2012468" y="1120920"/>
          <a:ext cx="4702854" cy="28496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618">
                  <a:extLst>
                    <a:ext uri="{9D8B030D-6E8A-4147-A177-3AD203B41FA5}">
                      <a16:colId xmlns:a16="http://schemas.microsoft.com/office/drawing/2014/main" val="89577853"/>
                    </a:ext>
                  </a:extLst>
                </a:gridCol>
                <a:gridCol w="1567618">
                  <a:extLst>
                    <a:ext uri="{9D8B030D-6E8A-4147-A177-3AD203B41FA5}">
                      <a16:colId xmlns:a16="http://schemas.microsoft.com/office/drawing/2014/main" val="1085053888"/>
                    </a:ext>
                  </a:extLst>
                </a:gridCol>
                <a:gridCol w="1567618">
                  <a:extLst>
                    <a:ext uri="{9D8B030D-6E8A-4147-A177-3AD203B41FA5}">
                      <a16:colId xmlns:a16="http://schemas.microsoft.com/office/drawing/2014/main" val="2910887662"/>
                    </a:ext>
                  </a:extLst>
                </a:gridCol>
              </a:tblGrid>
              <a:tr h="249022"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Notes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6873311"/>
                  </a:ext>
                </a:extLst>
              </a:tr>
              <a:tr h="250773">
                <a:tc>
                  <a:txBody>
                    <a:bodyPr/>
                    <a:lstStyle/>
                    <a:p>
                      <a:pPr algn="l"/>
                      <a:r>
                        <a:rPr lang="en-US" sz="1050" b="1"/>
                        <a:t>Likes</a:t>
                      </a:r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 sz="1050" dirty="0"/>
                        <a:t>783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/>
                        <a:t>Part of total engagement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9552339"/>
                  </a:ext>
                </a:extLst>
              </a:tr>
              <a:tr h="465723">
                <a:tc>
                  <a:txBody>
                    <a:bodyPr/>
                    <a:lstStyle/>
                    <a:p>
                      <a:pPr algn="l"/>
                      <a:r>
                        <a:rPr lang="en-US" sz="1050" b="1"/>
                        <a:t>Comments</a:t>
                      </a:r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 sz="1050"/>
                        <a:t>1,014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/>
                        <a:t>Indicates active audience interaction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5164072"/>
                  </a:ext>
                </a:extLst>
              </a:tr>
              <a:tr h="407490">
                <a:tc>
                  <a:txBody>
                    <a:bodyPr/>
                    <a:lstStyle/>
                    <a:p>
                      <a:pPr algn="l"/>
                      <a:r>
                        <a:rPr lang="en-US" sz="1050" b="1"/>
                        <a:t>Total (Likes + Comments)</a:t>
                      </a:r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 sz="1050" dirty="0"/>
                        <a:t>1,797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/>
                        <a:t>Out of </a:t>
                      </a:r>
                      <a:r>
                        <a:rPr lang="en-US" sz="1050" b="1"/>
                        <a:t>1.07M total engagements</a:t>
                      </a:r>
                      <a:endParaRPr lang="en-US" sz="105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483555"/>
                  </a:ext>
                </a:extLst>
              </a:tr>
              <a:tr h="1218043">
                <a:tc>
                  <a:txBody>
                    <a:bodyPr/>
                    <a:lstStyle/>
                    <a:p>
                      <a:pPr algn="l"/>
                      <a:r>
                        <a:rPr lang="en-US" sz="1050" b="1"/>
                        <a:t>Observation</a:t>
                      </a:r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 sz="1050" dirty="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Engagements are dominated by </a:t>
                      </a:r>
                      <a:r>
                        <a:rPr lang="en-US" sz="1050" b="1" dirty="0"/>
                        <a:t>shares, link clicks, and video views</a:t>
                      </a:r>
                      <a:r>
                        <a:rPr lang="en-US" sz="1050" dirty="0"/>
                        <a:t>, showing </a:t>
                      </a:r>
                      <a:r>
                        <a:rPr lang="en-US" sz="1050" b="1" dirty="0"/>
                        <a:t>high‑intent actions</a:t>
                      </a:r>
                      <a:r>
                        <a:rPr lang="en-US" sz="1050" dirty="0"/>
                        <a:t> rather than passive browsing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2838412"/>
                  </a:ext>
                </a:extLst>
              </a:tr>
              <a:tr h="249022">
                <a:tc>
                  <a:txBody>
                    <a:bodyPr/>
                    <a:lstStyle/>
                    <a:p>
                      <a:pPr algn="l"/>
                      <a:endParaRPr lang="en-AE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AE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AE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38036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8803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LEARNINGS &amp; INSIGHTS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9728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143000" y="12186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87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QUALITY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" y="1466982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 Product Education Videos Drive Outsized Results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1616754"/>
            <a:ext cx="7452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posts globally are ALL Product Education videos from Thailand, Vietnam &amp; Taiwan on Facebook. Thailand's single Sep post: 310K engagements (39.7% ER), more than all European markets combined for the entire period.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404872"/>
            <a:ext cx="84124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2450592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43000" y="24963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94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" y="2802636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Represents a Critical Anomaly, 99.9% Collapse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2982994"/>
            <a:ext cx="7452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recorded only 450 total engagements across 134 posts (3.4 avg vs Sep's 4,840). Instagram maintained typical ~245 eng, isolating this as Facebook-specific. Whether tracking failure, algorithm change or campaign pause, this must be resolved.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758184"/>
            <a:ext cx="84124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3851201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43000" y="3969443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EA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INSIGHT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" y="4152323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Punches Above Its Weight on Engagement Quality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4351284"/>
            <a:ext cx="7452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delivers 8.9% ER vs Facebook's 11.6% overall, but with consistent quality across posts. While reach is tiny (avg 37 vs 18,451), this signals a loyal follower base. Carousel format achieved the highest ER of any format/channel combination.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 STRATEGIC RECOMMENDATIONS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51245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143000" y="11247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94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PRIORITY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" y="1307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 in APAC Product Education Video Production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16002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Replicate Thailand/Vietnam video strategy across underperforming markets. Localise top-performing APAC video scripts for Belgium, Greece, and Middle East. The top 3 posts alone generated 596K engagements equal to 3x all European market output.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315200" y="1508760"/>
            <a:ext cx="1325880" cy="50292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0" y="150876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EA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+200–400K </a:t>
            </a:r>
            <a:r>
              <a:rPr lang="en-US" sz="1000" b="1" dirty="0" err="1">
                <a:solidFill>
                  <a:srgbClr val="3EA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</a:t>
            </a:r>
            <a:r>
              <a:rPr lang="en-US" sz="1000" b="1" dirty="0">
                <a:solidFill>
                  <a:srgbClr val="3EA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/quarter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404872"/>
            <a:ext cx="84124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2350639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43000" y="247802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94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PRIORITY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" y="266090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 &amp; Resolve the October Data Anomaly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295351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October data against native platform analytics. If tracking failure: fix the pipeline. If real performance: diagnose what changed (algorithm, content quality, schedule). Exclude October from KPI trend calculations until resolved.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315200" y="2862072"/>
            <a:ext cx="1325880" cy="50292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0" y="286207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EA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Accurate planning baseline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758184"/>
            <a:ext cx="84124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760" y="3714041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1143000" y="38313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87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PRIORITY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" y="401421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Instagram Carousel Format, Run a Structured Test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43000" y="4184169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Carousel achieves the highest ER of any format, but only 15 posts published. Commission a 20-post Carousel test on Instagram in Q1 to validate scalability. Pair with paid amplification to address reach gap.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315200" y="4215384"/>
            <a:ext cx="1325880" cy="50292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0" y="4215384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EA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+3-5pp </a:t>
            </a:r>
          </a:p>
          <a:p>
            <a:pPr marL="0" indent="0" algn="ctr">
              <a:buNone/>
            </a:pPr>
            <a:r>
              <a:rPr lang="en-US" sz="1000" b="1" dirty="0">
                <a:solidFill>
                  <a:srgbClr val="3EA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lift on Instagram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2201</Words>
  <Application>Microsoft Office PowerPoint</Application>
  <PresentationFormat>On-screen Show (16:9)</PresentationFormat>
  <Paragraphs>416</Paragraphs>
  <Slides>19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Marketing Campaign Analysis</dc:title>
  <dc:subject>PptxGenJS Presentation</dc:subject>
  <dc:creator>Saranya C J</dc:creator>
  <cp:lastModifiedBy>saranya c j</cp:lastModifiedBy>
  <cp:revision>20</cp:revision>
  <dcterms:created xsi:type="dcterms:W3CDTF">2026-05-20T17:55:10Z</dcterms:created>
  <dcterms:modified xsi:type="dcterms:W3CDTF">2026-05-21T17:54:48Z</dcterms:modified>
</cp:coreProperties>
</file>